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17"/>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10"/>
        </a:solidFill>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solidFill>
            <a:srgbClr val="16A39A">
              <a:alpha val="12000"/>
            </a:srgbClr>
          </a:solidFill>
          <a:ln/>
        </p:spPr>
      </p:sp>
      <p:sp>
        <p:nvSpPr>
          <p:cNvPr id="3" name="Shape 1"/>
          <p:cNvSpPr/>
          <p:nvPr/>
        </p:nvSpPr>
        <p:spPr>
          <a:xfrm>
            <a:off x="-1463040" y="4206240"/>
            <a:ext cx="4206240" cy="4206240"/>
          </a:xfrm>
          <a:prstGeom prst="ellipse">
            <a:avLst/>
          </a:prstGeom>
          <a:solidFill>
            <a:srgbClr val="C4419A">
              <a:alpha val="10000"/>
            </a:srgbClr>
          </a:solidFill>
          <a:ln/>
        </p:spPr>
      </p:sp>
      <p:sp>
        <p:nvSpPr>
          <p:cNvPr id="4" name="Text 2"/>
          <p:cNvSpPr/>
          <p:nvPr/>
        </p:nvSpPr>
        <p:spPr>
          <a:xfrm>
            <a:off x="822960" y="2331720"/>
            <a:ext cx="10515600" cy="1005840"/>
          </a:xfrm>
          <a:prstGeom prst="rect">
            <a:avLst/>
          </a:prstGeom>
          <a:noFill/>
          <a:ln/>
        </p:spPr>
        <p:txBody>
          <a:bodyPr wrap="square" lIns="0" tIns="0" rIns="0" bIns="0" rtlCol="0" anchor="ctr"/>
          <a:lstStyle/>
          <a:p>
            <a:pPr algn="l" indent="0" marL="0">
              <a:buNone/>
            </a:pPr>
            <a:r>
              <a:rPr lang="en-US" sz="5400" b="1" spc="200" kern="0" dirty="0">
                <a:solidFill>
                  <a:srgbClr val="F3EFE6"/>
                </a:solidFill>
                <a:latin typeface="Cambria" pitchFamily="34" charset="0"/>
                <a:ea typeface="Cambria" pitchFamily="34" charset="-122"/>
                <a:cs typeface="Cambria" pitchFamily="34" charset="-120"/>
              </a:rPr>
              <a:t>YASS &amp; SASS</a:t>
            </a:r>
            <a:endParaRPr lang="en-US" sz="5400" dirty="0"/>
          </a:p>
        </p:txBody>
      </p:sp>
      <p:sp>
        <p:nvSpPr>
          <p:cNvPr id="5" name="Text 3"/>
          <p:cNvSpPr/>
          <p:nvPr/>
        </p:nvSpPr>
        <p:spPr>
          <a:xfrm>
            <a:off x="822960" y="3246120"/>
            <a:ext cx="9144000" cy="457200"/>
          </a:xfrm>
          <a:prstGeom prst="rect">
            <a:avLst/>
          </a:prstGeom>
          <a:noFill/>
          <a:ln/>
        </p:spPr>
        <p:txBody>
          <a:bodyPr wrap="square" lIns="0" tIns="0" rIns="0" bIns="0" rtlCol="0" anchor="ctr"/>
          <a:lstStyle/>
          <a:p>
            <a:pPr algn="l" indent="0" marL="0">
              <a:buNone/>
            </a:pPr>
            <a:r>
              <a:rPr lang="en-US" sz="1600" b="1" spc="300" kern="0" dirty="0">
                <a:solidFill>
                  <a:srgbClr val="D9A13C"/>
                </a:solidFill>
                <a:latin typeface="Calibri" pitchFamily="34" charset="0"/>
                <a:ea typeface="Calibri" pitchFamily="34" charset="-122"/>
                <a:cs typeface="Calibri" pitchFamily="34" charset="-120"/>
              </a:rPr>
              <a:t>FABULOUS</a:t>
            </a:r>
            <a:pPr algn="l" indent="0" marL="0">
              <a:buNone/>
            </a:pPr>
            <a:r>
              <a:rPr lang="en-US" sz="1600" spc="300" kern="0" dirty="0">
                <a:solidFill>
                  <a:srgbClr val="C9C4B6"/>
                </a:solidFill>
                <a:latin typeface="Calibri" pitchFamily="34" charset="0"/>
                <a:ea typeface="Calibri" pitchFamily="34" charset="-122"/>
                <a:cs typeface="Calibri" pitchFamily="34" charset="-120"/>
              </a:rPr>
              <a:t>  ·  </a:t>
            </a:r>
            <a:pPr algn="l" indent="0" marL="0">
              <a:buNone/>
            </a:pPr>
            <a:r>
              <a:rPr lang="en-US" sz="1600" b="1" spc="300" kern="0" dirty="0">
                <a:solidFill>
                  <a:srgbClr val="C4419A"/>
                </a:solidFill>
                <a:latin typeface="Calibri" pitchFamily="34" charset="0"/>
                <a:ea typeface="Calibri" pitchFamily="34" charset="-122"/>
                <a:cs typeface="Calibri" pitchFamily="34" charset="-120"/>
              </a:rPr>
              <a:t>BOLD</a:t>
            </a:r>
            <a:pPr algn="l" indent="0" marL="0">
              <a:buNone/>
            </a:pPr>
            <a:r>
              <a:rPr lang="en-US" sz="1600" spc="300" kern="0" dirty="0">
                <a:solidFill>
                  <a:srgbClr val="C9C4B6"/>
                </a:solidFill>
                <a:latin typeface="Calibri" pitchFamily="34" charset="0"/>
                <a:ea typeface="Calibri" pitchFamily="34" charset="-122"/>
                <a:cs typeface="Calibri" pitchFamily="34" charset="-120"/>
              </a:rPr>
              <a:t>  ·  </a:t>
            </a:r>
            <a:pPr algn="l" indent="0" marL="0">
              <a:buNone/>
            </a:pPr>
            <a:r>
              <a:rPr lang="en-US" sz="1600" b="1" spc="300" kern="0" dirty="0">
                <a:solidFill>
                  <a:srgbClr val="3F7FD6"/>
                </a:solidFill>
                <a:latin typeface="Calibri" pitchFamily="34" charset="0"/>
                <a:ea typeface="Calibri" pitchFamily="34" charset="-122"/>
                <a:cs typeface="Calibri" pitchFamily="34" charset="-120"/>
              </a:rPr>
              <a:t>FEARLESS</a:t>
            </a:r>
            <a:endParaRPr lang="en-US" sz="1600" dirty="0"/>
          </a:p>
        </p:txBody>
      </p:sp>
      <p:sp>
        <p:nvSpPr>
          <p:cNvPr id="6" name="Text 4"/>
          <p:cNvSpPr/>
          <p:nvPr/>
        </p:nvSpPr>
        <p:spPr>
          <a:xfrm>
            <a:off x="822960" y="3977640"/>
            <a:ext cx="9144000" cy="548640"/>
          </a:xfrm>
          <a:prstGeom prst="rect">
            <a:avLst/>
          </a:prstGeom>
          <a:noFill/>
          <a:ln/>
        </p:spPr>
        <p:txBody>
          <a:bodyPr wrap="square" lIns="0" tIns="0" rIns="0" bIns="0" rtlCol="0" anchor="ctr"/>
          <a:lstStyle/>
          <a:p>
            <a:pPr algn="l" indent="0" marL="0">
              <a:buNone/>
            </a:pPr>
            <a:r>
              <a:rPr lang="en-US" sz="2200" dirty="0">
                <a:solidFill>
                  <a:srgbClr val="F3EFE6"/>
                </a:solidFill>
                <a:latin typeface="Cambria" pitchFamily="34" charset="0"/>
                <a:ea typeface="Cambria" pitchFamily="34" charset="-122"/>
                <a:cs typeface="Cambria" pitchFamily="34" charset="-120"/>
              </a:rPr>
              <a:t>Website Project Brief</a:t>
            </a:r>
            <a:endParaRPr lang="en-US" sz="2200" dirty="0"/>
          </a:p>
        </p:txBody>
      </p:sp>
      <p:sp>
        <p:nvSpPr>
          <p:cNvPr id="7" name="Text 5"/>
          <p:cNvSpPr/>
          <p:nvPr/>
        </p:nvSpPr>
        <p:spPr>
          <a:xfrm>
            <a:off x="822960" y="4526280"/>
            <a:ext cx="8686800" cy="548640"/>
          </a:xfrm>
          <a:prstGeom prst="rect">
            <a:avLst/>
          </a:prstGeom>
          <a:noFill/>
          <a:ln/>
        </p:spPr>
        <p:txBody>
          <a:bodyPr wrap="square" lIns="0" tIns="0" rIns="0" bIns="0" rtlCol="0" anchor="ctr"/>
          <a:lstStyle/>
          <a:p>
            <a:pPr algn="l" indent="0" marL="0">
              <a:buNone/>
            </a:pPr>
            <a:r>
              <a:rPr lang="en-US" sz="1300" dirty="0">
                <a:solidFill>
                  <a:srgbClr val="C9C4B6"/>
                </a:solidFill>
                <a:latin typeface="Calibri" pitchFamily="34" charset="0"/>
                <a:ea typeface="Calibri" pitchFamily="34" charset="-122"/>
                <a:cs typeface="Calibri" pitchFamily="34" charset="-120"/>
              </a:rPr>
              <a:t>The place fashion forward women go when they need to dress for the night. Built out of Bangalore, worn everywhere.</a:t>
            </a:r>
            <a:endParaRPr lang="en-US" sz="1300" dirty="0"/>
          </a:p>
        </p:txBody>
      </p:sp>
      <p:sp>
        <p:nvSpPr>
          <p:cNvPr id="8" name="Text 6"/>
          <p:cNvSpPr/>
          <p:nvPr/>
        </p:nvSpPr>
        <p:spPr>
          <a:xfrm>
            <a:off x="822960" y="6172200"/>
            <a:ext cx="7315200" cy="365760"/>
          </a:xfrm>
          <a:prstGeom prst="rect">
            <a:avLst/>
          </a:prstGeom>
          <a:noFill/>
          <a:ln/>
        </p:spPr>
        <p:txBody>
          <a:bodyPr wrap="square" lIns="0" tIns="0" rIns="0" bIns="0" rtlCol="0" anchor="ctr"/>
          <a:lstStyle/>
          <a:p>
            <a:pPr algn="l" indent="0" marL="0">
              <a:buNone/>
            </a:pPr>
            <a:r>
              <a:rPr lang="en-US" sz="1100" dirty="0">
                <a:solidFill>
                  <a:srgbClr val="C9C4B6"/>
                </a:solidFill>
                <a:latin typeface="Calibri" pitchFamily="34" charset="0"/>
                <a:ea typeface="Calibri" pitchFamily="34" charset="-122"/>
                <a:cs typeface="Calibri" pitchFamily="34" charset="-120"/>
              </a:rPr>
              <a:t>Prepared for the CEO  ·  omY'S Club  ·  V1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0B0C10"/>
                </a:solidFill>
                <a:latin typeface="Cambria" pitchFamily="34" charset="0"/>
                <a:ea typeface="Cambria" pitchFamily="34" charset="-122"/>
                <a:cs typeface="Cambria" pitchFamily="34" charset="-120"/>
              </a:rPr>
              <a:t>The Opportunity</a:t>
            </a:r>
            <a:endParaRPr lang="en-US" sz="3200" dirty="0"/>
          </a:p>
        </p:txBody>
      </p:sp>
      <p:sp>
        <p:nvSpPr>
          <p:cNvPr id="3" name="Text 1"/>
          <p:cNvSpPr/>
          <p:nvPr/>
        </p:nvSpPr>
        <p:spPr>
          <a:xfrm>
            <a:off x="640080" y="1143000"/>
            <a:ext cx="10515600" cy="548640"/>
          </a:xfrm>
          <a:prstGeom prst="rect">
            <a:avLst/>
          </a:prstGeom>
          <a:noFill/>
          <a:ln/>
        </p:spPr>
        <p:txBody>
          <a:bodyPr wrap="square" lIns="0" tIns="0" rIns="0" bIns="0" rtlCol="0" anchor="ctr"/>
          <a:lstStyle/>
          <a:p>
            <a:pPr indent="0" marL="0">
              <a:buNone/>
            </a:pPr>
            <a:r>
              <a:rPr lang="en-US" sz="1400" dirty="0">
                <a:solidFill>
                  <a:srgbClr val="3A3D46"/>
                </a:solidFill>
                <a:latin typeface="Calibri" pitchFamily="34" charset="0"/>
                <a:ea typeface="Calibri" pitchFamily="34" charset="-122"/>
                <a:cs typeface="Calibri" pitchFamily="34" charset="-120"/>
              </a:rPr>
              <a:t>She has outgrown fast fashion and can't afford luxury. Nobody has built her a wardrobe for the night ahead. We can be first.</a:t>
            </a:r>
            <a:endParaRPr lang="en-US" sz="1400" dirty="0"/>
          </a:p>
        </p:txBody>
      </p:sp>
      <p:sp>
        <p:nvSpPr>
          <p:cNvPr id="4" name="Shape 2"/>
          <p:cNvSpPr/>
          <p:nvPr/>
        </p:nvSpPr>
        <p:spPr>
          <a:xfrm>
            <a:off x="640080" y="2057400"/>
            <a:ext cx="3423818" cy="4023360"/>
          </a:xfrm>
          <a:prstGeom prst="roundRect">
            <a:avLst>
              <a:gd name="adj" fmla="val 2137"/>
            </a:avLst>
          </a:prstGeom>
          <a:solidFill>
            <a:srgbClr val="FFFFFF"/>
          </a:solidFill>
          <a:ln/>
          <a:effectLst>
            <a:outerShdw sx="100000" sy="100000" kx="0" ky="0" algn="bl" rotWithShape="0" blurRad="101600" dist="38100" dir="5400000">
              <a:srgbClr val="0B0C10">
                <a:alpha val="12000"/>
              </a:srgbClr>
            </a:outerShdw>
          </a:effectLst>
        </p:spPr>
      </p:sp>
      <p:sp>
        <p:nvSpPr>
          <p:cNvPr id="5" name="Shape 3"/>
          <p:cNvSpPr/>
          <p:nvPr/>
        </p:nvSpPr>
        <p:spPr>
          <a:xfrm>
            <a:off x="960120" y="2377440"/>
            <a:ext cx="457200" cy="457200"/>
          </a:xfrm>
          <a:prstGeom prst="ellipse">
            <a:avLst/>
          </a:prstGeom>
          <a:solidFill>
            <a:srgbClr val="16A39A"/>
          </a:solidFill>
          <a:ln/>
        </p:spPr>
      </p:sp>
      <p:sp>
        <p:nvSpPr>
          <p:cNvPr id="6" name="Text 4"/>
          <p:cNvSpPr/>
          <p:nvPr/>
        </p:nvSpPr>
        <p:spPr>
          <a:xfrm>
            <a:off x="960120" y="2377440"/>
            <a:ext cx="457200" cy="457200"/>
          </a:xfrm>
          <a:prstGeom prst="rect">
            <a:avLst/>
          </a:prstGeom>
          <a:noFill/>
          <a:ln/>
        </p:spPr>
        <p:txBody>
          <a:bodyPr wrap="square" lIns="0" tIns="0" rIns="0" bIns="0" rtlCol="0" anchor="ctr"/>
          <a:lstStyle/>
          <a:p>
            <a:pPr algn="ctr" indent="0" marL="0">
              <a:buNone/>
            </a:pPr>
            <a:r>
              <a:rPr lang="en-US" sz="1400" b="1" dirty="0">
                <a:solidFill>
                  <a:srgbClr val="F3EFE6"/>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960120" y="2971800"/>
            <a:ext cx="2783738" cy="41148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The gap</a:t>
            </a:r>
            <a:endParaRPr lang="en-US" sz="1800" dirty="0"/>
          </a:p>
        </p:txBody>
      </p:sp>
      <p:sp>
        <p:nvSpPr>
          <p:cNvPr id="8" name="Text 6"/>
          <p:cNvSpPr/>
          <p:nvPr/>
        </p:nvSpPr>
        <p:spPr>
          <a:xfrm>
            <a:off x="960120" y="3429000"/>
            <a:ext cx="2783738" cy="2331720"/>
          </a:xfrm>
          <a:prstGeom prst="rect">
            <a:avLst/>
          </a:prstGeom>
          <a:noFill/>
          <a:ln/>
        </p:spPr>
        <p:txBody>
          <a:bodyPr wrap="square" lIns="0" tIns="0" rIns="0" bIns="0" rtlCol="0" anchor="ctr"/>
          <a:lstStyle/>
          <a:p>
            <a:pPr indent="0" marL="0">
              <a:lnSpc>
                <a:spcPct val="125000"/>
              </a:lnSpc>
              <a:buNone/>
            </a:pPr>
            <a:r>
              <a:rPr lang="en-US" sz="1250" dirty="0">
                <a:solidFill>
                  <a:srgbClr val="3A3D46"/>
                </a:solidFill>
                <a:latin typeface="Calibri" pitchFamily="34" charset="0"/>
                <a:ea typeface="Calibri" pitchFamily="34" charset="-122"/>
                <a:cs typeface="Calibri" pitchFamily="34" charset="-120"/>
              </a:rPr>
              <a:t>Fast fashion competes on price. Luxury stays out of reach. The one thing every woman actually shops for, what to wear for the night ahead, has no home of its own.</a:t>
            </a:r>
            <a:endParaRPr lang="en-US" sz="1250" dirty="0"/>
          </a:p>
        </p:txBody>
      </p:sp>
      <p:sp>
        <p:nvSpPr>
          <p:cNvPr id="9" name="Shape 7"/>
          <p:cNvSpPr/>
          <p:nvPr/>
        </p:nvSpPr>
        <p:spPr>
          <a:xfrm>
            <a:off x="4383938" y="2057400"/>
            <a:ext cx="3423818" cy="4023360"/>
          </a:xfrm>
          <a:prstGeom prst="roundRect">
            <a:avLst>
              <a:gd name="adj" fmla="val 2137"/>
            </a:avLst>
          </a:prstGeom>
          <a:solidFill>
            <a:srgbClr val="FFFFFF"/>
          </a:solidFill>
          <a:ln/>
          <a:effectLst>
            <a:outerShdw sx="100000" sy="100000" kx="0" ky="0" algn="bl" rotWithShape="0" blurRad="101600" dist="38100" dir="5400000">
              <a:srgbClr val="0B0C10">
                <a:alpha val="12000"/>
              </a:srgbClr>
            </a:outerShdw>
          </a:effectLst>
        </p:spPr>
      </p:sp>
      <p:sp>
        <p:nvSpPr>
          <p:cNvPr id="10" name="Shape 8"/>
          <p:cNvSpPr/>
          <p:nvPr/>
        </p:nvSpPr>
        <p:spPr>
          <a:xfrm>
            <a:off x="4703978" y="2377440"/>
            <a:ext cx="457200" cy="457200"/>
          </a:xfrm>
          <a:prstGeom prst="ellipse">
            <a:avLst/>
          </a:prstGeom>
          <a:solidFill>
            <a:srgbClr val="C4419A"/>
          </a:solidFill>
          <a:ln/>
        </p:spPr>
      </p:sp>
      <p:sp>
        <p:nvSpPr>
          <p:cNvPr id="11" name="Text 9"/>
          <p:cNvSpPr/>
          <p:nvPr/>
        </p:nvSpPr>
        <p:spPr>
          <a:xfrm>
            <a:off x="4703978" y="2377440"/>
            <a:ext cx="457200" cy="457200"/>
          </a:xfrm>
          <a:prstGeom prst="rect">
            <a:avLst/>
          </a:prstGeom>
          <a:noFill/>
          <a:ln/>
        </p:spPr>
        <p:txBody>
          <a:bodyPr wrap="square" lIns="0" tIns="0" rIns="0" bIns="0" rtlCol="0" anchor="ctr"/>
          <a:lstStyle/>
          <a:p>
            <a:pPr algn="ctr" indent="0" marL="0">
              <a:buNone/>
            </a:pPr>
            <a:r>
              <a:rPr lang="en-US" sz="1400" b="1" dirty="0">
                <a:solidFill>
                  <a:srgbClr val="F3EFE6"/>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4703978" y="2971800"/>
            <a:ext cx="2783738" cy="41148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The insight</a:t>
            </a:r>
            <a:endParaRPr lang="en-US" sz="1800" dirty="0"/>
          </a:p>
        </p:txBody>
      </p:sp>
      <p:sp>
        <p:nvSpPr>
          <p:cNvPr id="13" name="Text 11"/>
          <p:cNvSpPr/>
          <p:nvPr/>
        </p:nvSpPr>
        <p:spPr>
          <a:xfrm>
            <a:off x="4703978" y="3429000"/>
            <a:ext cx="2783738" cy="2331720"/>
          </a:xfrm>
          <a:prstGeom prst="rect">
            <a:avLst/>
          </a:prstGeom>
          <a:noFill/>
          <a:ln/>
        </p:spPr>
        <p:txBody>
          <a:bodyPr wrap="square" lIns="0" tIns="0" rIns="0" bIns="0" rtlCol="0" anchor="ctr"/>
          <a:lstStyle/>
          <a:p>
            <a:pPr indent="0" marL="0">
              <a:lnSpc>
                <a:spcPct val="125000"/>
              </a:lnSpc>
              <a:buNone/>
            </a:pPr>
            <a:r>
              <a:rPr lang="en-US" sz="1250" dirty="0">
                <a:solidFill>
                  <a:srgbClr val="3A3D46"/>
                </a:solidFill>
                <a:latin typeface="Calibri" pitchFamily="34" charset="0"/>
                <a:ea typeface="Calibri" pitchFamily="34" charset="-122"/>
                <a:cs typeface="Calibri" pitchFamily="34" charset="-120"/>
              </a:rPr>
              <a:t>She isn't buying a top. She's buying who she gets to be tonight. Berlin techno and a Goa beach club call for two different women. Today's platforms can't tell them apart.</a:t>
            </a:r>
            <a:endParaRPr lang="en-US" sz="1250" dirty="0"/>
          </a:p>
        </p:txBody>
      </p:sp>
      <p:sp>
        <p:nvSpPr>
          <p:cNvPr id="14" name="Shape 12"/>
          <p:cNvSpPr/>
          <p:nvPr/>
        </p:nvSpPr>
        <p:spPr>
          <a:xfrm>
            <a:off x="8127797" y="2057400"/>
            <a:ext cx="3423818" cy="4023360"/>
          </a:xfrm>
          <a:prstGeom prst="roundRect">
            <a:avLst>
              <a:gd name="adj" fmla="val 2137"/>
            </a:avLst>
          </a:prstGeom>
          <a:solidFill>
            <a:srgbClr val="FFFFFF"/>
          </a:solidFill>
          <a:ln/>
          <a:effectLst>
            <a:outerShdw sx="100000" sy="100000" kx="0" ky="0" algn="bl" rotWithShape="0" blurRad="101600" dist="38100" dir="5400000">
              <a:srgbClr val="0B0C10">
                <a:alpha val="12000"/>
              </a:srgbClr>
            </a:outerShdw>
          </a:effectLst>
        </p:spPr>
      </p:sp>
      <p:sp>
        <p:nvSpPr>
          <p:cNvPr id="15" name="Shape 13"/>
          <p:cNvSpPr/>
          <p:nvPr/>
        </p:nvSpPr>
        <p:spPr>
          <a:xfrm>
            <a:off x="8447837" y="2377440"/>
            <a:ext cx="457200" cy="457200"/>
          </a:xfrm>
          <a:prstGeom prst="ellipse">
            <a:avLst/>
          </a:prstGeom>
          <a:solidFill>
            <a:srgbClr val="D9A13C"/>
          </a:solidFill>
          <a:ln/>
        </p:spPr>
      </p:sp>
      <p:sp>
        <p:nvSpPr>
          <p:cNvPr id="16" name="Text 14"/>
          <p:cNvSpPr/>
          <p:nvPr/>
        </p:nvSpPr>
        <p:spPr>
          <a:xfrm>
            <a:off x="8447837" y="2377440"/>
            <a:ext cx="457200" cy="457200"/>
          </a:xfrm>
          <a:prstGeom prst="rect">
            <a:avLst/>
          </a:prstGeom>
          <a:noFill/>
          <a:ln/>
        </p:spPr>
        <p:txBody>
          <a:bodyPr wrap="square" lIns="0" tIns="0" rIns="0" bIns="0" rtlCol="0" anchor="ctr"/>
          <a:lstStyle/>
          <a:p>
            <a:pPr algn="ctr" indent="0" marL="0">
              <a:buNone/>
            </a:pPr>
            <a:r>
              <a:rPr lang="en-US" sz="1400" b="1" dirty="0">
                <a:solidFill>
                  <a:srgbClr val="F3EFE6"/>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8447837" y="2971800"/>
            <a:ext cx="2783738" cy="41148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The position</a:t>
            </a:r>
            <a:endParaRPr lang="en-US" sz="1800" dirty="0"/>
          </a:p>
        </p:txBody>
      </p:sp>
      <p:sp>
        <p:nvSpPr>
          <p:cNvPr id="18" name="Text 16"/>
          <p:cNvSpPr/>
          <p:nvPr/>
        </p:nvSpPr>
        <p:spPr>
          <a:xfrm>
            <a:off x="8447837" y="3429000"/>
            <a:ext cx="2783738" cy="2331720"/>
          </a:xfrm>
          <a:prstGeom prst="rect">
            <a:avLst/>
          </a:prstGeom>
          <a:noFill/>
          <a:ln/>
        </p:spPr>
        <p:txBody>
          <a:bodyPr wrap="square" lIns="0" tIns="0" rIns="0" bIns="0" rtlCol="0" anchor="ctr"/>
          <a:lstStyle/>
          <a:p>
            <a:pPr indent="0" marL="0">
              <a:lnSpc>
                <a:spcPct val="125000"/>
              </a:lnSpc>
              <a:buNone/>
            </a:pPr>
            <a:r>
              <a:rPr lang="en-US" sz="1250" dirty="0">
                <a:solidFill>
                  <a:srgbClr val="3A3D46"/>
                </a:solidFill>
                <a:latin typeface="Calibri" pitchFamily="34" charset="0"/>
                <a:ea typeface="Calibri" pitchFamily="34" charset="-122"/>
                <a:cs typeface="Calibri" pitchFamily="34" charset="-120"/>
              </a:rPr>
              <a:t>Accessible premium. Indian born, globally fluent, unmistakably ours. Not traditional ethnic wear, not a Western festival brand in translation. A category of one, claimed first.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F3EFE6"/>
                </a:solidFill>
                <a:latin typeface="Cambria" pitchFamily="34" charset="0"/>
                <a:ea typeface="Cambria" pitchFamily="34" charset="-122"/>
                <a:cs typeface="Cambria" pitchFamily="34" charset="-120"/>
              </a:rPr>
              <a:t>The Brand</a:t>
            </a:r>
            <a:endParaRPr lang="en-US" sz="3200" dirty="0"/>
          </a:p>
        </p:txBody>
      </p:sp>
      <p:sp>
        <p:nvSpPr>
          <p:cNvPr id="3" name="Text 1"/>
          <p:cNvSpPr/>
          <p:nvPr/>
        </p:nvSpPr>
        <p:spPr>
          <a:xfrm>
            <a:off x="640080" y="1143000"/>
            <a:ext cx="10515600" cy="457200"/>
          </a:xfrm>
          <a:prstGeom prst="rect">
            <a:avLst/>
          </a:prstGeom>
          <a:noFill/>
          <a:ln/>
        </p:spPr>
        <p:txBody>
          <a:bodyPr wrap="square" lIns="0" tIns="0" rIns="0" bIns="0" rtlCol="0" anchor="ctr"/>
          <a:lstStyle/>
          <a:p>
            <a:pPr indent="0" marL="0">
              <a:buNone/>
            </a:pPr>
            <a:r>
              <a:rPr lang="en-US" sz="1400" i="1" dirty="0">
                <a:solidFill>
                  <a:srgbClr val="D9A13C"/>
                </a:solidFill>
                <a:latin typeface="Calibri" pitchFamily="34" charset="0"/>
                <a:ea typeface="Calibri" pitchFamily="34" charset="-122"/>
                <a:cs typeface="Calibri" pitchFamily="34" charset="-120"/>
              </a:rPr>
              <a:t>Inspired by Indian goddesses. Made by Indian goddesses. For goddesses who know how to party.</a:t>
            </a:r>
            <a:endParaRPr lang="en-US" sz="1400" dirty="0"/>
          </a:p>
        </p:txBody>
      </p:sp>
      <p:sp>
        <p:nvSpPr>
          <p:cNvPr id="4" name="Shape 2"/>
          <p:cNvSpPr/>
          <p:nvPr/>
        </p:nvSpPr>
        <p:spPr>
          <a:xfrm>
            <a:off x="640080" y="2039112"/>
            <a:ext cx="54864" cy="950976"/>
          </a:xfrm>
          <a:prstGeom prst="rect">
            <a:avLst/>
          </a:prstGeom>
          <a:solidFill>
            <a:srgbClr val="D9A13C"/>
          </a:solidFill>
          <a:ln/>
        </p:spPr>
      </p:sp>
      <p:sp>
        <p:nvSpPr>
          <p:cNvPr id="5" name="Text 3"/>
          <p:cNvSpPr/>
          <p:nvPr/>
        </p:nvSpPr>
        <p:spPr>
          <a:xfrm>
            <a:off x="914400" y="1965960"/>
            <a:ext cx="2103120" cy="1097280"/>
          </a:xfrm>
          <a:prstGeom prst="rect">
            <a:avLst/>
          </a:prstGeom>
          <a:noFill/>
          <a:ln/>
        </p:spPr>
        <p:txBody>
          <a:bodyPr wrap="square" lIns="0" tIns="0" rIns="0" bIns="0" rtlCol="0" anchor="ctr"/>
          <a:lstStyle/>
          <a:p>
            <a:pPr indent="0" marL="0">
              <a:buNone/>
            </a:pPr>
            <a:r>
              <a:rPr lang="en-US" sz="2000" b="1" dirty="0">
                <a:solidFill>
                  <a:srgbClr val="F3EFE6"/>
                </a:solidFill>
                <a:latin typeface="Cambria" pitchFamily="34" charset="0"/>
                <a:ea typeface="Cambria" pitchFamily="34" charset="-122"/>
                <a:cs typeface="Cambria" pitchFamily="34" charset="-120"/>
              </a:rPr>
              <a:t>Fabulous</a:t>
            </a:r>
            <a:endParaRPr lang="en-US" sz="2000" dirty="0"/>
          </a:p>
        </p:txBody>
      </p:sp>
      <p:sp>
        <p:nvSpPr>
          <p:cNvPr id="6" name="Text 4"/>
          <p:cNvSpPr/>
          <p:nvPr/>
        </p:nvSpPr>
        <p:spPr>
          <a:xfrm>
            <a:off x="3108960" y="1965960"/>
            <a:ext cx="4206240" cy="1097280"/>
          </a:xfrm>
          <a:prstGeom prst="rect">
            <a:avLst/>
          </a:prstGeom>
          <a:noFill/>
          <a:ln/>
        </p:spPr>
        <p:txBody>
          <a:bodyPr wrap="square" lIns="0" tIns="0" rIns="0" bIns="0" rtlCol="0" anchor="ctr"/>
          <a:lstStyle/>
          <a:p>
            <a:pPr indent="0" marL="0">
              <a:lnSpc>
                <a:spcPct val="120000"/>
              </a:lnSpc>
              <a:buNone/>
            </a:pPr>
            <a:r>
              <a:rPr lang="en-US" sz="1300" dirty="0">
                <a:solidFill>
                  <a:srgbClr val="C9C4B6"/>
                </a:solidFill>
                <a:latin typeface="Calibri" pitchFamily="34" charset="0"/>
                <a:ea typeface="Calibri" pitchFamily="34" charset="-122"/>
                <a:cs typeface="Calibri" pitchFamily="34" charset="-120"/>
              </a:rPr>
              <a:t>Every look is an entrance. Glamour isn't the upgrade, it's the baseline.</a:t>
            </a:r>
            <a:endParaRPr lang="en-US" sz="1300" dirty="0"/>
          </a:p>
        </p:txBody>
      </p:sp>
      <p:sp>
        <p:nvSpPr>
          <p:cNvPr id="7" name="Shape 5"/>
          <p:cNvSpPr/>
          <p:nvPr/>
        </p:nvSpPr>
        <p:spPr>
          <a:xfrm>
            <a:off x="640080" y="3364992"/>
            <a:ext cx="54864" cy="950976"/>
          </a:xfrm>
          <a:prstGeom prst="rect">
            <a:avLst/>
          </a:prstGeom>
          <a:solidFill>
            <a:srgbClr val="C4419A"/>
          </a:solidFill>
          <a:ln/>
        </p:spPr>
      </p:sp>
      <p:sp>
        <p:nvSpPr>
          <p:cNvPr id="8" name="Text 6"/>
          <p:cNvSpPr/>
          <p:nvPr/>
        </p:nvSpPr>
        <p:spPr>
          <a:xfrm>
            <a:off x="914400" y="3291840"/>
            <a:ext cx="2103120" cy="1097280"/>
          </a:xfrm>
          <a:prstGeom prst="rect">
            <a:avLst/>
          </a:prstGeom>
          <a:noFill/>
          <a:ln/>
        </p:spPr>
        <p:txBody>
          <a:bodyPr wrap="square" lIns="0" tIns="0" rIns="0" bIns="0" rtlCol="0" anchor="ctr"/>
          <a:lstStyle/>
          <a:p>
            <a:pPr indent="0" marL="0">
              <a:buNone/>
            </a:pPr>
            <a:r>
              <a:rPr lang="en-US" sz="2000" b="1" dirty="0">
                <a:solidFill>
                  <a:srgbClr val="F3EFE6"/>
                </a:solidFill>
                <a:latin typeface="Cambria" pitchFamily="34" charset="0"/>
                <a:ea typeface="Cambria" pitchFamily="34" charset="-122"/>
                <a:cs typeface="Cambria" pitchFamily="34" charset="-120"/>
              </a:rPr>
              <a:t>Bold</a:t>
            </a:r>
            <a:endParaRPr lang="en-US" sz="2000" dirty="0"/>
          </a:p>
        </p:txBody>
      </p:sp>
      <p:sp>
        <p:nvSpPr>
          <p:cNvPr id="9" name="Text 7"/>
          <p:cNvSpPr/>
          <p:nvPr/>
        </p:nvSpPr>
        <p:spPr>
          <a:xfrm>
            <a:off x="3108960" y="3291840"/>
            <a:ext cx="4206240" cy="1097280"/>
          </a:xfrm>
          <a:prstGeom prst="rect">
            <a:avLst/>
          </a:prstGeom>
          <a:noFill/>
          <a:ln/>
        </p:spPr>
        <p:txBody>
          <a:bodyPr wrap="square" lIns="0" tIns="0" rIns="0" bIns="0" rtlCol="0" anchor="ctr"/>
          <a:lstStyle/>
          <a:p>
            <a:pPr indent="0" marL="0">
              <a:lnSpc>
                <a:spcPct val="120000"/>
              </a:lnSpc>
              <a:buNone/>
            </a:pPr>
            <a:r>
              <a:rPr lang="en-US" sz="1300" dirty="0">
                <a:solidFill>
                  <a:srgbClr val="C9C4B6"/>
                </a:solidFill>
                <a:latin typeface="Calibri" pitchFamily="34" charset="0"/>
                <a:ea typeface="Calibri" pitchFamily="34" charset="-122"/>
                <a:cs typeface="Calibri" pitchFamily="34" charset="-120"/>
              </a:rPr>
              <a:t>Color, cut and confidence, turned all the way up. Nothing in this closet whispers.</a:t>
            </a:r>
            <a:endParaRPr lang="en-US" sz="1300" dirty="0"/>
          </a:p>
        </p:txBody>
      </p:sp>
      <p:sp>
        <p:nvSpPr>
          <p:cNvPr id="10" name="Shape 8"/>
          <p:cNvSpPr/>
          <p:nvPr/>
        </p:nvSpPr>
        <p:spPr>
          <a:xfrm>
            <a:off x="640080" y="4690872"/>
            <a:ext cx="54864" cy="950976"/>
          </a:xfrm>
          <a:prstGeom prst="rect">
            <a:avLst/>
          </a:prstGeom>
          <a:solidFill>
            <a:srgbClr val="3F7FD6"/>
          </a:solidFill>
          <a:ln/>
        </p:spPr>
      </p:sp>
      <p:sp>
        <p:nvSpPr>
          <p:cNvPr id="11" name="Text 9"/>
          <p:cNvSpPr/>
          <p:nvPr/>
        </p:nvSpPr>
        <p:spPr>
          <a:xfrm>
            <a:off x="914400" y="4617720"/>
            <a:ext cx="2103120" cy="1097280"/>
          </a:xfrm>
          <a:prstGeom prst="rect">
            <a:avLst/>
          </a:prstGeom>
          <a:noFill/>
          <a:ln/>
        </p:spPr>
        <p:txBody>
          <a:bodyPr wrap="square" lIns="0" tIns="0" rIns="0" bIns="0" rtlCol="0" anchor="ctr"/>
          <a:lstStyle/>
          <a:p>
            <a:pPr indent="0" marL="0">
              <a:buNone/>
            </a:pPr>
            <a:r>
              <a:rPr lang="en-US" sz="2000" b="1" dirty="0">
                <a:solidFill>
                  <a:srgbClr val="F3EFE6"/>
                </a:solidFill>
                <a:latin typeface="Cambria" pitchFamily="34" charset="0"/>
                <a:ea typeface="Cambria" pitchFamily="34" charset="-122"/>
                <a:cs typeface="Cambria" pitchFamily="34" charset="-120"/>
              </a:rPr>
              <a:t>Fearless</a:t>
            </a:r>
            <a:endParaRPr lang="en-US" sz="2000" dirty="0"/>
          </a:p>
        </p:txBody>
      </p:sp>
      <p:sp>
        <p:nvSpPr>
          <p:cNvPr id="12" name="Text 10"/>
          <p:cNvSpPr/>
          <p:nvPr/>
        </p:nvSpPr>
        <p:spPr>
          <a:xfrm>
            <a:off x="3108960" y="4617720"/>
            <a:ext cx="4206240" cy="1097280"/>
          </a:xfrm>
          <a:prstGeom prst="rect">
            <a:avLst/>
          </a:prstGeom>
          <a:noFill/>
          <a:ln/>
        </p:spPr>
        <p:txBody>
          <a:bodyPr wrap="square" lIns="0" tIns="0" rIns="0" bIns="0" rtlCol="0" anchor="ctr"/>
          <a:lstStyle/>
          <a:p>
            <a:pPr indent="0" marL="0">
              <a:lnSpc>
                <a:spcPct val="120000"/>
              </a:lnSpc>
              <a:buNone/>
            </a:pPr>
            <a:r>
              <a:rPr lang="en-US" sz="1300" dirty="0">
                <a:solidFill>
                  <a:srgbClr val="C9C4B6"/>
                </a:solidFill>
                <a:latin typeface="Calibri" pitchFamily="34" charset="0"/>
                <a:ea typeface="Calibri" pitchFamily="34" charset="-122"/>
                <a:cs typeface="Calibri" pitchFamily="34" charset="-120"/>
              </a:rPr>
              <a:t>Dress for the night you want, not the one you're expected to have.</a:t>
            </a:r>
            <a:endParaRPr lang="en-US" sz="1300" dirty="0"/>
          </a:p>
        </p:txBody>
      </p:sp>
      <p:sp>
        <p:nvSpPr>
          <p:cNvPr id="13" name="Shape 11"/>
          <p:cNvSpPr/>
          <p:nvPr/>
        </p:nvSpPr>
        <p:spPr>
          <a:xfrm>
            <a:off x="7772400" y="1965960"/>
            <a:ext cx="3749040" cy="3977640"/>
          </a:xfrm>
          <a:prstGeom prst="roundRect">
            <a:avLst>
              <a:gd name="adj" fmla="val 1951"/>
            </a:avLst>
          </a:prstGeom>
          <a:solidFill>
            <a:srgbClr val="14161C"/>
          </a:solidFill>
          <a:ln w="12700">
            <a:solidFill>
              <a:srgbClr val="16A39A"/>
            </a:solidFill>
            <a:prstDash val="solid"/>
          </a:ln>
        </p:spPr>
      </p:sp>
      <p:sp>
        <p:nvSpPr>
          <p:cNvPr id="14" name="Text 12"/>
          <p:cNvSpPr/>
          <p:nvPr/>
        </p:nvSpPr>
        <p:spPr>
          <a:xfrm>
            <a:off x="8092440" y="2286000"/>
            <a:ext cx="3108960" cy="320040"/>
          </a:xfrm>
          <a:prstGeom prst="rect">
            <a:avLst/>
          </a:prstGeom>
          <a:noFill/>
          <a:ln/>
        </p:spPr>
        <p:txBody>
          <a:bodyPr wrap="square" lIns="0" tIns="0" rIns="0" bIns="0" rtlCol="0" anchor="ctr"/>
          <a:lstStyle/>
          <a:p>
            <a:pPr indent="0" marL="0">
              <a:buNone/>
            </a:pPr>
            <a:r>
              <a:rPr lang="en-US" sz="1100" spc="200" kern="0" dirty="0">
                <a:solidFill>
                  <a:srgbClr val="C9C4B6"/>
                </a:solidFill>
                <a:latin typeface="Calibri" pitchFamily="34" charset="0"/>
                <a:ea typeface="Calibri" pitchFamily="34" charset="-122"/>
                <a:cs typeface="Calibri" pitchFamily="34" charset="-120"/>
              </a:rPr>
              <a:t>LET'S SPREAD</a:t>
            </a:r>
            <a:endParaRPr lang="en-US" sz="1100" dirty="0"/>
          </a:p>
        </p:txBody>
      </p:sp>
      <p:sp>
        <p:nvSpPr>
          <p:cNvPr id="15" name="Text 13"/>
          <p:cNvSpPr/>
          <p:nvPr/>
        </p:nvSpPr>
        <p:spPr>
          <a:xfrm>
            <a:off x="8092440" y="2560320"/>
            <a:ext cx="3108960" cy="640080"/>
          </a:xfrm>
          <a:prstGeom prst="rect">
            <a:avLst/>
          </a:prstGeom>
          <a:noFill/>
          <a:ln/>
        </p:spPr>
        <p:txBody>
          <a:bodyPr wrap="square" lIns="0" tIns="0" rIns="0" bIns="0" rtlCol="0" anchor="ctr"/>
          <a:lstStyle/>
          <a:p>
            <a:pPr indent="0" marL="0">
              <a:buNone/>
            </a:pPr>
            <a:r>
              <a:rPr lang="en-US" sz="3400" b="1" dirty="0">
                <a:solidFill>
                  <a:srgbClr val="16A39A"/>
                </a:solidFill>
                <a:latin typeface="Cambria" pitchFamily="34" charset="0"/>
                <a:ea typeface="Cambria" pitchFamily="34" charset="-122"/>
                <a:cs typeface="Cambria" pitchFamily="34" charset="-120"/>
              </a:rPr>
              <a:t>PLURP</a:t>
            </a:r>
            <a:endParaRPr lang="en-US" sz="3400" dirty="0"/>
          </a:p>
        </p:txBody>
      </p:sp>
      <p:sp>
        <p:nvSpPr>
          <p:cNvPr id="16" name="Text 14"/>
          <p:cNvSpPr/>
          <p:nvPr/>
        </p:nvSpPr>
        <p:spPr>
          <a:xfrm>
            <a:off x="8092440" y="3383280"/>
            <a:ext cx="365760" cy="320040"/>
          </a:xfrm>
          <a:prstGeom prst="rect">
            <a:avLst/>
          </a:prstGeom>
          <a:noFill/>
          <a:ln/>
        </p:spPr>
        <p:txBody>
          <a:bodyPr wrap="square" lIns="0" tIns="0" rIns="0" bIns="0" rtlCol="0" anchor="ctr"/>
          <a:lstStyle/>
          <a:p>
            <a:pPr indent="0" marL="0">
              <a:buNone/>
            </a:pPr>
            <a:r>
              <a:rPr lang="en-US" sz="1600" b="1" dirty="0">
                <a:solidFill>
                  <a:srgbClr val="D9A13C"/>
                </a:solidFill>
                <a:latin typeface="Cambria" pitchFamily="34" charset="0"/>
                <a:ea typeface="Cambria" pitchFamily="34" charset="-122"/>
                <a:cs typeface="Cambria" pitchFamily="34" charset="-120"/>
              </a:rPr>
              <a:t>P</a:t>
            </a:r>
            <a:endParaRPr lang="en-US" sz="1600" dirty="0"/>
          </a:p>
        </p:txBody>
      </p:sp>
      <p:sp>
        <p:nvSpPr>
          <p:cNvPr id="17" name="Text 15"/>
          <p:cNvSpPr/>
          <p:nvPr/>
        </p:nvSpPr>
        <p:spPr>
          <a:xfrm>
            <a:off x="8549640" y="3383280"/>
            <a:ext cx="2651760" cy="320040"/>
          </a:xfrm>
          <a:prstGeom prst="rect">
            <a:avLst/>
          </a:prstGeom>
          <a:noFill/>
          <a:ln/>
        </p:spPr>
        <p:txBody>
          <a:bodyPr wrap="square" lIns="0" tIns="0" rIns="0" bIns="0" rtlCol="0" anchor="ctr"/>
          <a:lstStyle/>
          <a:p>
            <a:pPr indent="0" marL="0">
              <a:buNone/>
            </a:pPr>
            <a:r>
              <a:rPr lang="en-US" sz="1300" dirty="0">
                <a:solidFill>
                  <a:srgbClr val="F3EFE6"/>
                </a:solidFill>
                <a:latin typeface="Calibri" pitchFamily="34" charset="0"/>
                <a:ea typeface="Calibri" pitchFamily="34" charset="-122"/>
                <a:cs typeface="Calibri" pitchFamily="34" charset="-120"/>
              </a:rPr>
              <a:t>Peace</a:t>
            </a:r>
            <a:endParaRPr lang="en-US" sz="1300" dirty="0"/>
          </a:p>
        </p:txBody>
      </p:sp>
      <p:sp>
        <p:nvSpPr>
          <p:cNvPr id="18" name="Text 16"/>
          <p:cNvSpPr/>
          <p:nvPr/>
        </p:nvSpPr>
        <p:spPr>
          <a:xfrm>
            <a:off x="8092440" y="3749040"/>
            <a:ext cx="365760" cy="320040"/>
          </a:xfrm>
          <a:prstGeom prst="rect">
            <a:avLst/>
          </a:prstGeom>
          <a:noFill/>
          <a:ln/>
        </p:spPr>
        <p:txBody>
          <a:bodyPr wrap="square" lIns="0" tIns="0" rIns="0" bIns="0" rtlCol="0" anchor="ctr"/>
          <a:lstStyle/>
          <a:p>
            <a:pPr indent="0" marL="0">
              <a:buNone/>
            </a:pPr>
            <a:r>
              <a:rPr lang="en-US" sz="1600" b="1" dirty="0">
                <a:solidFill>
                  <a:srgbClr val="D9A13C"/>
                </a:solidFill>
                <a:latin typeface="Cambria" pitchFamily="34" charset="0"/>
                <a:ea typeface="Cambria" pitchFamily="34" charset="-122"/>
                <a:cs typeface="Cambria" pitchFamily="34" charset="-120"/>
              </a:rPr>
              <a:t>L</a:t>
            </a:r>
            <a:endParaRPr lang="en-US" sz="1600" dirty="0"/>
          </a:p>
        </p:txBody>
      </p:sp>
      <p:sp>
        <p:nvSpPr>
          <p:cNvPr id="19" name="Text 17"/>
          <p:cNvSpPr/>
          <p:nvPr/>
        </p:nvSpPr>
        <p:spPr>
          <a:xfrm>
            <a:off x="8549640" y="3749040"/>
            <a:ext cx="2651760" cy="320040"/>
          </a:xfrm>
          <a:prstGeom prst="rect">
            <a:avLst/>
          </a:prstGeom>
          <a:noFill/>
          <a:ln/>
        </p:spPr>
        <p:txBody>
          <a:bodyPr wrap="square" lIns="0" tIns="0" rIns="0" bIns="0" rtlCol="0" anchor="ctr"/>
          <a:lstStyle/>
          <a:p>
            <a:pPr indent="0" marL="0">
              <a:buNone/>
            </a:pPr>
            <a:r>
              <a:rPr lang="en-US" sz="1300" dirty="0">
                <a:solidFill>
                  <a:srgbClr val="F3EFE6"/>
                </a:solidFill>
                <a:latin typeface="Calibri" pitchFamily="34" charset="0"/>
                <a:ea typeface="Calibri" pitchFamily="34" charset="-122"/>
                <a:cs typeface="Calibri" pitchFamily="34" charset="-120"/>
              </a:rPr>
              <a:t>Love</a:t>
            </a:r>
            <a:endParaRPr lang="en-US" sz="1300" dirty="0"/>
          </a:p>
        </p:txBody>
      </p:sp>
      <p:sp>
        <p:nvSpPr>
          <p:cNvPr id="20" name="Text 18"/>
          <p:cNvSpPr/>
          <p:nvPr/>
        </p:nvSpPr>
        <p:spPr>
          <a:xfrm>
            <a:off x="8092440" y="4114800"/>
            <a:ext cx="365760" cy="320040"/>
          </a:xfrm>
          <a:prstGeom prst="rect">
            <a:avLst/>
          </a:prstGeom>
          <a:noFill/>
          <a:ln/>
        </p:spPr>
        <p:txBody>
          <a:bodyPr wrap="square" lIns="0" tIns="0" rIns="0" bIns="0" rtlCol="0" anchor="ctr"/>
          <a:lstStyle/>
          <a:p>
            <a:pPr indent="0" marL="0">
              <a:buNone/>
            </a:pPr>
            <a:r>
              <a:rPr lang="en-US" sz="1600" b="1" dirty="0">
                <a:solidFill>
                  <a:srgbClr val="D9A13C"/>
                </a:solidFill>
                <a:latin typeface="Cambria" pitchFamily="34" charset="0"/>
                <a:ea typeface="Cambria" pitchFamily="34" charset="-122"/>
                <a:cs typeface="Cambria" pitchFamily="34" charset="-120"/>
              </a:rPr>
              <a:t>U</a:t>
            </a:r>
            <a:endParaRPr lang="en-US" sz="1600" dirty="0"/>
          </a:p>
        </p:txBody>
      </p:sp>
      <p:sp>
        <p:nvSpPr>
          <p:cNvPr id="21" name="Text 19"/>
          <p:cNvSpPr/>
          <p:nvPr/>
        </p:nvSpPr>
        <p:spPr>
          <a:xfrm>
            <a:off x="8549640" y="4114800"/>
            <a:ext cx="2651760" cy="320040"/>
          </a:xfrm>
          <a:prstGeom prst="rect">
            <a:avLst/>
          </a:prstGeom>
          <a:noFill/>
          <a:ln/>
        </p:spPr>
        <p:txBody>
          <a:bodyPr wrap="square" lIns="0" tIns="0" rIns="0" bIns="0" rtlCol="0" anchor="ctr"/>
          <a:lstStyle/>
          <a:p>
            <a:pPr indent="0" marL="0">
              <a:buNone/>
            </a:pPr>
            <a:r>
              <a:rPr lang="en-US" sz="1300" dirty="0">
                <a:solidFill>
                  <a:srgbClr val="F3EFE6"/>
                </a:solidFill>
                <a:latin typeface="Calibri" pitchFamily="34" charset="0"/>
                <a:ea typeface="Calibri" pitchFamily="34" charset="-122"/>
                <a:cs typeface="Calibri" pitchFamily="34" charset="-120"/>
              </a:rPr>
              <a:t>Unity</a:t>
            </a:r>
            <a:endParaRPr lang="en-US" sz="1300" dirty="0"/>
          </a:p>
        </p:txBody>
      </p:sp>
      <p:sp>
        <p:nvSpPr>
          <p:cNvPr id="22" name="Text 20"/>
          <p:cNvSpPr/>
          <p:nvPr/>
        </p:nvSpPr>
        <p:spPr>
          <a:xfrm>
            <a:off x="8092440" y="4480560"/>
            <a:ext cx="365760" cy="320040"/>
          </a:xfrm>
          <a:prstGeom prst="rect">
            <a:avLst/>
          </a:prstGeom>
          <a:noFill/>
          <a:ln/>
        </p:spPr>
        <p:txBody>
          <a:bodyPr wrap="square" lIns="0" tIns="0" rIns="0" bIns="0" rtlCol="0" anchor="ctr"/>
          <a:lstStyle/>
          <a:p>
            <a:pPr indent="0" marL="0">
              <a:buNone/>
            </a:pPr>
            <a:r>
              <a:rPr lang="en-US" sz="1600" b="1" dirty="0">
                <a:solidFill>
                  <a:srgbClr val="D9A13C"/>
                </a:solidFill>
                <a:latin typeface="Cambria" pitchFamily="34" charset="0"/>
                <a:ea typeface="Cambria" pitchFamily="34" charset="-122"/>
                <a:cs typeface="Cambria" pitchFamily="34" charset="-120"/>
              </a:rPr>
              <a:t>R</a:t>
            </a:r>
            <a:endParaRPr lang="en-US" sz="1600" dirty="0"/>
          </a:p>
        </p:txBody>
      </p:sp>
      <p:sp>
        <p:nvSpPr>
          <p:cNvPr id="23" name="Text 21"/>
          <p:cNvSpPr/>
          <p:nvPr/>
        </p:nvSpPr>
        <p:spPr>
          <a:xfrm>
            <a:off x="8549640" y="4480560"/>
            <a:ext cx="2651760" cy="320040"/>
          </a:xfrm>
          <a:prstGeom prst="rect">
            <a:avLst/>
          </a:prstGeom>
          <a:noFill/>
          <a:ln/>
        </p:spPr>
        <p:txBody>
          <a:bodyPr wrap="square" lIns="0" tIns="0" rIns="0" bIns="0" rtlCol="0" anchor="ctr"/>
          <a:lstStyle/>
          <a:p>
            <a:pPr indent="0" marL="0">
              <a:buNone/>
            </a:pPr>
            <a:r>
              <a:rPr lang="en-US" sz="1300" dirty="0">
                <a:solidFill>
                  <a:srgbClr val="F3EFE6"/>
                </a:solidFill>
                <a:latin typeface="Calibri" pitchFamily="34" charset="0"/>
                <a:ea typeface="Calibri" pitchFamily="34" charset="-122"/>
                <a:cs typeface="Calibri" pitchFamily="34" charset="-120"/>
              </a:rPr>
              <a:t>Respect</a:t>
            </a:r>
            <a:endParaRPr lang="en-US" sz="1300" dirty="0"/>
          </a:p>
        </p:txBody>
      </p:sp>
      <p:sp>
        <p:nvSpPr>
          <p:cNvPr id="24" name="Text 22"/>
          <p:cNvSpPr/>
          <p:nvPr/>
        </p:nvSpPr>
        <p:spPr>
          <a:xfrm>
            <a:off x="8092440" y="4846320"/>
            <a:ext cx="365760" cy="320040"/>
          </a:xfrm>
          <a:prstGeom prst="rect">
            <a:avLst/>
          </a:prstGeom>
          <a:noFill/>
          <a:ln/>
        </p:spPr>
        <p:txBody>
          <a:bodyPr wrap="square" lIns="0" tIns="0" rIns="0" bIns="0" rtlCol="0" anchor="ctr"/>
          <a:lstStyle/>
          <a:p>
            <a:pPr indent="0" marL="0">
              <a:buNone/>
            </a:pPr>
            <a:r>
              <a:rPr lang="en-US" sz="1600" b="1" dirty="0">
                <a:solidFill>
                  <a:srgbClr val="D9A13C"/>
                </a:solidFill>
                <a:latin typeface="Cambria" pitchFamily="34" charset="0"/>
                <a:ea typeface="Cambria" pitchFamily="34" charset="-122"/>
                <a:cs typeface="Cambria" pitchFamily="34" charset="-120"/>
              </a:rPr>
              <a:t>P</a:t>
            </a:r>
            <a:endParaRPr lang="en-US" sz="1600" dirty="0"/>
          </a:p>
        </p:txBody>
      </p:sp>
      <p:sp>
        <p:nvSpPr>
          <p:cNvPr id="25" name="Text 23"/>
          <p:cNvSpPr/>
          <p:nvPr/>
        </p:nvSpPr>
        <p:spPr>
          <a:xfrm>
            <a:off x="8549640" y="4846320"/>
            <a:ext cx="2651760" cy="320040"/>
          </a:xfrm>
          <a:prstGeom prst="rect">
            <a:avLst/>
          </a:prstGeom>
          <a:noFill/>
          <a:ln/>
        </p:spPr>
        <p:txBody>
          <a:bodyPr wrap="square" lIns="0" tIns="0" rIns="0" bIns="0" rtlCol="0" anchor="ctr"/>
          <a:lstStyle/>
          <a:p>
            <a:pPr indent="0" marL="0">
              <a:buNone/>
            </a:pPr>
            <a:r>
              <a:rPr lang="en-US" sz="1300" dirty="0">
                <a:solidFill>
                  <a:srgbClr val="F3EFE6"/>
                </a:solidFill>
                <a:latin typeface="Calibri" pitchFamily="34" charset="0"/>
                <a:ea typeface="Calibri" pitchFamily="34" charset="-122"/>
                <a:cs typeface="Calibri" pitchFamily="34" charset="-120"/>
              </a:rPr>
              <a:t>Party</a:t>
            </a:r>
            <a:endParaRPr lang="en-US" sz="1300" dirty="0"/>
          </a:p>
        </p:txBody>
      </p:sp>
      <p:sp>
        <p:nvSpPr>
          <p:cNvPr id="26" name="Text 24"/>
          <p:cNvSpPr/>
          <p:nvPr/>
        </p:nvSpPr>
        <p:spPr>
          <a:xfrm>
            <a:off x="8092440" y="5349240"/>
            <a:ext cx="3108960" cy="411480"/>
          </a:xfrm>
          <a:prstGeom prst="rect">
            <a:avLst/>
          </a:prstGeom>
          <a:noFill/>
          <a:ln/>
        </p:spPr>
        <p:txBody>
          <a:bodyPr wrap="square" lIns="0" tIns="0" rIns="0" bIns="0" rtlCol="0" anchor="ctr"/>
          <a:lstStyle/>
          <a:p>
            <a:pPr indent="0" marL="0">
              <a:buNone/>
            </a:pPr>
            <a:r>
              <a:rPr lang="en-US" sz="1100" i="1" dirty="0">
                <a:solidFill>
                  <a:srgbClr val="C9C4B6"/>
                </a:solidFill>
                <a:latin typeface="Calibri" pitchFamily="34" charset="0"/>
                <a:ea typeface="Calibri" pitchFamily="34" charset="-122"/>
                <a:cs typeface="Calibri" pitchFamily="34" charset="-120"/>
              </a:rPr>
              <a:t>The culture the brand protects. Not only the clothes it sells.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0B0C10"/>
                </a:solidFill>
                <a:latin typeface="Cambria" pitchFamily="34" charset="0"/>
                <a:ea typeface="Cambria" pitchFamily="34" charset="-122"/>
                <a:cs typeface="Cambria" pitchFamily="34" charset="-120"/>
              </a:rPr>
              <a:t>Shop by Genre</a:t>
            </a:r>
            <a:endParaRPr lang="en-US" sz="3200" dirty="0"/>
          </a:p>
        </p:txBody>
      </p:sp>
      <p:sp>
        <p:nvSpPr>
          <p:cNvPr id="3" name="Text 1"/>
          <p:cNvSpPr/>
          <p:nvPr/>
        </p:nvSpPr>
        <p:spPr>
          <a:xfrm>
            <a:off x="640080" y="1143000"/>
            <a:ext cx="10515600" cy="457200"/>
          </a:xfrm>
          <a:prstGeom prst="rect">
            <a:avLst/>
          </a:prstGeom>
          <a:noFill/>
          <a:ln/>
        </p:spPr>
        <p:txBody>
          <a:bodyPr wrap="square" lIns="0" tIns="0" rIns="0" bIns="0" rtlCol="0" anchor="ctr"/>
          <a:lstStyle/>
          <a:p>
            <a:pPr indent="0" marL="0">
              <a:buNone/>
            </a:pPr>
            <a:r>
              <a:rPr lang="en-US" sz="1400" dirty="0">
                <a:solidFill>
                  <a:srgbClr val="3A3D46"/>
                </a:solidFill>
                <a:latin typeface="Calibri" pitchFamily="34" charset="0"/>
                <a:ea typeface="Calibri" pitchFamily="34" charset="-122"/>
                <a:cs typeface="Calibri" pitchFamily="34" charset="-120"/>
              </a:rPr>
              <a:t>One brand, five distinct worlds. The wordmark and voice hold steady. The mood changes completely.</a:t>
            </a:r>
            <a:endParaRPr lang="en-US" sz="1400" dirty="0"/>
          </a:p>
        </p:txBody>
      </p:sp>
      <p:sp>
        <p:nvSpPr>
          <p:cNvPr id="4" name="Shape 2"/>
          <p:cNvSpPr/>
          <p:nvPr/>
        </p:nvSpPr>
        <p:spPr>
          <a:xfrm>
            <a:off x="640080" y="2011680"/>
            <a:ext cx="1999427" cy="4023360"/>
          </a:xfrm>
          <a:prstGeom prst="roundRect">
            <a:avLst>
              <a:gd name="adj" fmla="val 3201"/>
            </a:avLst>
          </a:prstGeom>
          <a:solidFill>
            <a:srgbClr val="D9A13C"/>
          </a:solidFill>
          <a:ln/>
        </p:spPr>
      </p:sp>
      <p:sp>
        <p:nvSpPr>
          <p:cNvPr id="5" name="Text 3"/>
          <p:cNvSpPr/>
          <p:nvPr/>
        </p:nvSpPr>
        <p:spPr>
          <a:xfrm>
            <a:off x="841248" y="2240280"/>
            <a:ext cx="1597091"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841248" y="4343400"/>
            <a:ext cx="1597091" cy="1005840"/>
          </a:xfrm>
          <a:prstGeom prst="rect">
            <a:avLst/>
          </a:prstGeom>
          <a:noFill/>
          <a:ln/>
        </p:spPr>
        <p:txBody>
          <a:bodyPr wrap="square" lIns="0" tIns="0" rIns="0" bIns="0" rtlCol="0" anchor="b"/>
          <a:lstStyle/>
          <a:p>
            <a:pPr indent="0" marL="0">
              <a:buNone/>
            </a:pPr>
            <a:r>
              <a:rPr lang="en-US" sz="1700" b="1" dirty="0">
                <a:solidFill>
                  <a:srgbClr val="FFFFFF"/>
                </a:solidFill>
                <a:latin typeface="Cambria" pitchFamily="34" charset="0"/>
                <a:ea typeface="Cambria" pitchFamily="34" charset="-122"/>
                <a:cs typeface="Cambria" pitchFamily="34" charset="-120"/>
              </a:rPr>
              <a:t>Boho Psy</a:t>
            </a:r>
            <a:endParaRPr lang="en-US" sz="1700" dirty="0"/>
          </a:p>
        </p:txBody>
      </p:sp>
      <p:sp>
        <p:nvSpPr>
          <p:cNvPr id="7" name="Text 5"/>
          <p:cNvSpPr/>
          <p:nvPr/>
        </p:nvSpPr>
        <p:spPr>
          <a:xfrm>
            <a:off x="841248" y="5303520"/>
            <a:ext cx="1597091" cy="640080"/>
          </a:xfrm>
          <a:prstGeom prst="rect">
            <a:avLst/>
          </a:prstGeom>
          <a:noFill/>
          <a:ln/>
        </p:spPr>
        <p:txBody>
          <a:bodyPr wrap="square" lIns="0" tIns="0" rIns="0" bIns="0"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Psychedelic · Earthy · Mystical · Free spirited</a:t>
            </a:r>
            <a:endParaRPr lang="en-US" sz="950" dirty="0"/>
          </a:p>
        </p:txBody>
      </p:sp>
      <p:sp>
        <p:nvSpPr>
          <p:cNvPr id="8" name="Shape 6"/>
          <p:cNvSpPr/>
          <p:nvPr/>
        </p:nvSpPr>
        <p:spPr>
          <a:xfrm>
            <a:off x="2868107" y="2011680"/>
            <a:ext cx="1999427" cy="4023360"/>
          </a:xfrm>
          <a:prstGeom prst="roundRect">
            <a:avLst>
              <a:gd name="adj" fmla="val 3201"/>
            </a:avLst>
          </a:prstGeom>
          <a:solidFill>
            <a:srgbClr val="0B0C10"/>
          </a:solidFill>
          <a:ln/>
        </p:spPr>
      </p:sp>
      <p:sp>
        <p:nvSpPr>
          <p:cNvPr id="9" name="Text 7"/>
          <p:cNvSpPr/>
          <p:nvPr/>
        </p:nvSpPr>
        <p:spPr>
          <a:xfrm>
            <a:off x="3069275" y="2240280"/>
            <a:ext cx="1597091" cy="365760"/>
          </a:xfrm>
          <a:prstGeom prst="rect">
            <a:avLst/>
          </a:prstGeom>
          <a:noFill/>
          <a:ln/>
        </p:spPr>
        <p:txBody>
          <a:bodyPr wrap="square" lIns="0" tIns="0" rIns="0" bIns="0" rtlCol="0" anchor="ctr"/>
          <a:lstStyle/>
          <a:p>
            <a:pPr indent="0" marL="0">
              <a:buNone/>
            </a:pPr>
            <a:r>
              <a:rPr lang="en-US" sz="1200" b="1" dirty="0">
                <a:solidFill>
                  <a:srgbClr val="C9C4B6"/>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3069275" y="4343400"/>
            <a:ext cx="1597091" cy="1005840"/>
          </a:xfrm>
          <a:prstGeom prst="rect">
            <a:avLst/>
          </a:prstGeom>
          <a:noFill/>
          <a:ln/>
        </p:spPr>
        <p:txBody>
          <a:bodyPr wrap="square" lIns="0" tIns="0" rIns="0" bIns="0" rtlCol="0" anchor="b"/>
          <a:lstStyle/>
          <a:p>
            <a:pPr indent="0" marL="0">
              <a:buNone/>
            </a:pPr>
            <a:r>
              <a:rPr lang="en-US" sz="1700" b="1" dirty="0">
                <a:solidFill>
                  <a:srgbClr val="F3EFE6"/>
                </a:solidFill>
                <a:latin typeface="Cambria" pitchFamily="34" charset="0"/>
                <a:ea typeface="Cambria" pitchFamily="34" charset="-122"/>
                <a:cs typeface="Cambria" pitchFamily="34" charset="-120"/>
              </a:rPr>
              <a:t>Berlin Underground</a:t>
            </a:r>
            <a:endParaRPr lang="en-US" sz="1700" dirty="0"/>
          </a:p>
        </p:txBody>
      </p:sp>
      <p:sp>
        <p:nvSpPr>
          <p:cNvPr id="11" name="Text 9"/>
          <p:cNvSpPr/>
          <p:nvPr/>
        </p:nvSpPr>
        <p:spPr>
          <a:xfrm>
            <a:off x="3069275" y="5303520"/>
            <a:ext cx="1597091" cy="640080"/>
          </a:xfrm>
          <a:prstGeom prst="rect">
            <a:avLst/>
          </a:prstGeom>
          <a:noFill/>
          <a:ln/>
        </p:spPr>
        <p:txBody>
          <a:bodyPr wrap="square" lIns="0" tIns="0" rIns="0" bIns="0" rtlCol="0" anchor="ctr"/>
          <a:lstStyle/>
          <a:p>
            <a:pPr indent="0" marL="0">
              <a:lnSpc>
                <a:spcPct val="115000"/>
              </a:lnSpc>
              <a:buNone/>
            </a:pPr>
            <a:r>
              <a:rPr lang="en-US" sz="950" dirty="0">
                <a:solidFill>
                  <a:srgbClr val="C9C4B6"/>
                </a:solidFill>
                <a:latin typeface="Calibri" pitchFamily="34" charset="0"/>
                <a:ea typeface="Calibri" pitchFamily="34" charset="-122"/>
                <a:cs typeface="Calibri" pitchFamily="34" charset="-120"/>
              </a:rPr>
              <a:t>Dark · Raw · Industrial · Experimental</a:t>
            </a:r>
            <a:endParaRPr lang="en-US" sz="950" dirty="0"/>
          </a:p>
        </p:txBody>
      </p:sp>
      <p:sp>
        <p:nvSpPr>
          <p:cNvPr id="12" name="Shape 10"/>
          <p:cNvSpPr/>
          <p:nvPr/>
        </p:nvSpPr>
        <p:spPr>
          <a:xfrm>
            <a:off x="5096134" y="2011680"/>
            <a:ext cx="1999427" cy="4023360"/>
          </a:xfrm>
          <a:prstGeom prst="roundRect">
            <a:avLst>
              <a:gd name="adj" fmla="val 3201"/>
            </a:avLst>
          </a:prstGeom>
          <a:solidFill>
            <a:srgbClr val="3F7FD6"/>
          </a:solidFill>
          <a:ln/>
        </p:spPr>
      </p:sp>
      <p:sp>
        <p:nvSpPr>
          <p:cNvPr id="13" name="Text 11"/>
          <p:cNvSpPr/>
          <p:nvPr/>
        </p:nvSpPr>
        <p:spPr>
          <a:xfrm>
            <a:off x="5297302" y="2240280"/>
            <a:ext cx="1597091"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5297302" y="4343400"/>
            <a:ext cx="1597091" cy="1005840"/>
          </a:xfrm>
          <a:prstGeom prst="rect">
            <a:avLst/>
          </a:prstGeom>
          <a:noFill/>
          <a:ln/>
        </p:spPr>
        <p:txBody>
          <a:bodyPr wrap="square" lIns="0" tIns="0" rIns="0" bIns="0" rtlCol="0" anchor="b"/>
          <a:lstStyle/>
          <a:p>
            <a:pPr indent="0" marL="0">
              <a:buNone/>
            </a:pPr>
            <a:r>
              <a:rPr lang="en-US" sz="1700" b="1" dirty="0">
                <a:solidFill>
                  <a:srgbClr val="FFFFFF"/>
                </a:solidFill>
                <a:latin typeface="Cambria" pitchFamily="34" charset="0"/>
                <a:ea typeface="Cambria" pitchFamily="34" charset="-122"/>
                <a:cs typeface="Cambria" pitchFamily="34" charset="-120"/>
              </a:rPr>
              <a:t>House &amp; Techno</a:t>
            </a:r>
            <a:endParaRPr lang="en-US" sz="1700" dirty="0"/>
          </a:p>
        </p:txBody>
      </p:sp>
      <p:sp>
        <p:nvSpPr>
          <p:cNvPr id="15" name="Text 13"/>
          <p:cNvSpPr/>
          <p:nvPr/>
        </p:nvSpPr>
        <p:spPr>
          <a:xfrm>
            <a:off x="5297302" y="5303520"/>
            <a:ext cx="1597091" cy="640080"/>
          </a:xfrm>
          <a:prstGeom prst="rect">
            <a:avLst/>
          </a:prstGeom>
          <a:noFill/>
          <a:ln/>
        </p:spPr>
        <p:txBody>
          <a:bodyPr wrap="square" lIns="0" tIns="0" rIns="0" bIns="0"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Sleek · Sexy · Futuristic · Club driven</a:t>
            </a:r>
            <a:endParaRPr lang="en-US" sz="950" dirty="0"/>
          </a:p>
        </p:txBody>
      </p:sp>
      <p:sp>
        <p:nvSpPr>
          <p:cNvPr id="16" name="Shape 14"/>
          <p:cNvSpPr/>
          <p:nvPr/>
        </p:nvSpPr>
        <p:spPr>
          <a:xfrm>
            <a:off x="7324161" y="2011680"/>
            <a:ext cx="1999427" cy="4023360"/>
          </a:xfrm>
          <a:prstGeom prst="roundRect">
            <a:avLst>
              <a:gd name="adj" fmla="val 3201"/>
            </a:avLst>
          </a:prstGeom>
          <a:solidFill>
            <a:srgbClr val="C4419A"/>
          </a:solidFill>
          <a:ln/>
        </p:spPr>
      </p:sp>
      <p:sp>
        <p:nvSpPr>
          <p:cNvPr id="17" name="Text 15"/>
          <p:cNvSpPr/>
          <p:nvPr/>
        </p:nvSpPr>
        <p:spPr>
          <a:xfrm>
            <a:off x="7525329" y="2240280"/>
            <a:ext cx="1597091"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7525329" y="4343400"/>
            <a:ext cx="1597091" cy="1005840"/>
          </a:xfrm>
          <a:prstGeom prst="rect">
            <a:avLst/>
          </a:prstGeom>
          <a:noFill/>
          <a:ln/>
        </p:spPr>
        <p:txBody>
          <a:bodyPr wrap="square" lIns="0" tIns="0" rIns="0" bIns="0" rtlCol="0" anchor="b"/>
          <a:lstStyle/>
          <a:p>
            <a:pPr indent="0" marL="0">
              <a:buNone/>
            </a:pPr>
            <a:r>
              <a:rPr lang="en-US" sz="1700" b="1" dirty="0">
                <a:solidFill>
                  <a:srgbClr val="FFFFFF"/>
                </a:solidFill>
                <a:latin typeface="Cambria" pitchFamily="34" charset="0"/>
                <a:ea typeface="Cambria" pitchFamily="34" charset="-122"/>
                <a:cs typeface="Cambria" pitchFamily="34" charset="-120"/>
              </a:rPr>
              <a:t>Disco</a:t>
            </a:r>
            <a:endParaRPr lang="en-US" sz="1700" dirty="0"/>
          </a:p>
        </p:txBody>
      </p:sp>
      <p:sp>
        <p:nvSpPr>
          <p:cNvPr id="19" name="Text 17"/>
          <p:cNvSpPr/>
          <p:nvPr/>
        </p:nvSpPr>
        <p:spPr>
          <a:xfrm>
            <a:off x="7525329" y="5303520"/>
            <a:ext cx="1597091" cy="640080"/>
          </a:xfrm>
          <a:prstGeom prst="rect">
            <a:avLst/>
          </a:prstGeom>
          <a:noFill/>
          <a:ln/>
        </p:spPr>
        <p:txBody>
          <a:bodyPr wrap="square" lIns="0" tIns="0" rIns="0" bIns="0"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Glitter · Glam · Playful · Maximalist</a:t>
            </a:r>
            <a:endParaRPr lang="en-US" sz="950" dirty="0"/>
          </a:p>
        </p:txBody>
      </p:sp>
      <p:sp>
        <p:nvSpPr>
          <p:cNvPr id="20" name="Shape 18"/>
          <p:cNvSpPr/>
          <p:nvPr/>
        </p:nvSpPr>
        <p:spPr>
          <a:xfrm>
            <a:off x="9552188" y="2011680"/>
            <a:ext cx="1999427" cy="4023360"/>
          </a:xfrm>
          <a:prstGeom prst="roundRect">
            <a:avLst>
              <a:gd name="adj" fmla="val 3201"/>
            </a:avLst>
          </a:prstGeom>
          <a:solidFill>
            <a:srgbClr val="16A39A"/>
          </a:solidFill>
          <a:ln/>
        </p:spPr>
      </p:sp>
      <p:sp>
        <p:nvSpPr>
          <p:cNvPr id="21" name="Text 19"/>
          <p:cNvSpPr/>
          <p:nvPr/>
        </p:nvSpPr>
        <p:spPr>
          <a:xfrm>
            <a:off x="9753356" y="2240280"/>
            <a:ext cx="1597091"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9753356" y="4343400"/>
            <a:ext cx="1597091" cy="1005840"/>
          </a:xfrm>
          <a:prstGeom prst="rect">
            <a:avLst/>
          </a:prstGeom>
          <a:noFill/>
          <a:ln/>
        </p:spPr>
        <p:txBody>
          <a:bodyPr wrap="square" lIns="0" tIns="0" rIns="0" bIns="0" rtlCol="0" anchor="b"/>
          <a:lstStyle/>
          <a:p>
            <a:pPr indent="0" marL="0">
              <a:buNone/>
            </a:pPr>
            <a:r>
              <a:rPr lang="en-US" sz="1700" b="1" dirty="0">
                <a:solidFill>
                  <a:srgbClr val="FFFFFF"/>
                </a:solidFill>
                <a:latin typeface="Cambria" pitchFamily="34" charset="0"/>
                <a:ea typeface="Cambria" pitchFamily="34" charset="-122"/>
                <a:cs typeface="Cambria" pitchFamily="34" charset="-120"/>
              </a:rPr>
              <a:t>Beach Club</a:t>
            </a:r>
            <a:endParaRPr lang="en-US" sz="1700" dirty="0"/>
          </a:p>
        </p:txBody>
      </p:sp>
      <p:sp>
        <p:nvSpPr>
          <p:cNvPr id="23" name="Text 21"/>
          <p:cNvSpPr/>
          <p:nvPr/>
        </p:nvSpPr>
        <p:spPr>
          <a:xfrm>
            <a:off x="9753356" y="5303520"/>
            <a:ext cx="1597091" cy="640080"/>
          </a:xfrm>
          <a:prstGeom prst="rect">
            <a:avLst/>
          </a:prstGeom>
          <a:noFill/>
          <a:ln/>
        </p:spPr>
        <p:txBody>
          <a:bodyPr wrap="square" lIns="0" tIns="0" rIns="0" bIns="0"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Fluid · Sensual · Resort · Sunset to sunrise</a:t>
            </a:r>
            <a:endParaRPr lang="en-US" sz="950" dirty="0"/>
          </a:p>
        </p:txBody>
      </p:sp>
      <p:sp>
        <p:nvSpPr>
          <p:cNvPr id="24" name="Text 22"/>
          <p:cNvSpPr/>
          <p:nvPr/>
        </p:nvSpPr>
        <p:spPr>
          <a:xfrm>
            <a:off x="640080" y="6263640"/>
            <a:ext cx="10058400" cy="365760"/>
          </a:xfrm>
          <a:prstGeom prst="rect">
            <a:avLst/>
          </a:prstGeom>
          <a:noFill/>
          <a:ln/>
        </p:spPr>
        <p:txBody>
          <a:bodyPr wrap="square" lIns="0" tIns="0" rIns="0" bIns="0" rtlCol="0" anchor="ctr"/>
          <a:lstStyle/>
          <a:p>
            <a:pPr indent="0" marL="0">
              <a:buNone/>
            </a:pPr>
            <a:r>
              <a:rPr lang="en-US" sz="1100" i="1" dirty="0">
                <a:solidFill>
                  <a:srgbClr val="3A3D46"/>
                </a:solidFill>
                <a:latin typeface="Calibri" pitchFamily="34" charset="0"/>
                <a:ea typeface="Calibri" pitchFamily="34" charset="-122"/>
                <a:cs typeface="Calibri" pitchFamily="34" charset="-120"/>
              </a:rPr>
              <a:t>As the community grows, new genres and subcultures join the roster.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F3EFE6"/>
                </a:solidFill>
                <a:latin typeface="Cambria" pitchFamily="34" charset="0"/>
                <a:ea typeface="Cambria" pitchFamily="34" charset="-122"/>
                <a:cs typeface="Cambria" pitchFamily="34" charset="-120"/>
              </a:rPr>
              <a:t>The Website Experience</a:t>
            </a:r>
            <a:endParaRPr lang="en-US" sz="3200" dirty="0"/>
          </a:p>
        </p:txBody>
      </p:sp>
      <p:sp>
        <p:nvSpPr>
          <p:cNvPr id="3" name="Text 1"/>
          <p:cNvSpPr/>
          <p:nvPr/>
        </p:nvSpPr>
        <p:spPr>
          <a:xfrm>
            <a:off x="640080" y="1143000"/>
            <a:ext cx="10515600" cy="457200"/>
          </a:xfrm>
          <a:prstGeom prst="rect">
            <a:avLst/>
          </a:prstGeom>
          <a:noFill/>
          <a:ln/>
        </p:spPr>
        <p:txBody>
          <a:bodyPr wrap="square" lIns="0" tIns="0" rIns="0" bIns="0" rtlCol="0" anchor="ctr"/>
          <a:lstStyle/>
          <a:p>
            <a:pPr indent="0" marL="0">
              <a:buNone/>
            </a:pPr>
            <a:r>
              <a:rPr lang="en-US" sz="1400" dirty="0">
                <a:solidFill>
                  <a:srgbClr val="C9C4B6"/>
                </a:solidFill>
                <a:latin typeface="Calibri" pitchFamily="34" charset="0"/>
                <a:ea typeface="Calibri" pitchFamily="34" charset="-122"/>
                <a:cs typeface="Calibri" pitchFamily="34" charset="-120"/>
              </a:rPr>
              <a:t>Four pillars turn a storefront into a universe she wants to live in.</a:t>
            </a:r>
            <a:endParaRPr lang="en-US" sz="1400" dirty="0"/>
          </a:p>
        </p:txBody>
      </p:sp>
      <p:sp>
        <p:nvSpPr>
          <p:cNvPr id="4" name="Shape 2"/>
          <p:cNvSpPr/>
          <p:nvPr/>
        </p:nvSpPr>
        <p:spPr>
          <a:xfrm>
            <a:off x="640080" y="2103120"/>
            <a:ext cx="2522144" cy="3840480"/>
          </a:xfrm>
          <a:prstGeom prst="roundRect">
            <a:avLst>
              <a:gd name="adj" fmla="val 2900"/>
            </a:avLst>
          </a:prstGeom>
          <a:solidFill>
            <a:srgbClr val="14161C"/>
          </a:solidFill>
          <a:ln/>
        </p:spPr>
      </p:sp>
      <p:sp>
        <p:nvSpPr>
          <p:cNvPr id="5" name="Shape 3"/>
          <p:cNvSpPr/>
          <p:nvPr/>
        </p:nvSpPr>
        <p:spPr>
          <a:xfrm>
            <a:off x="1489672" y="2468880"/>
            <a:ext cx="822960" cy="822960"/>
          </a:xfrm>
          <a:prstGeom prst="ellipse">
            <a:avLst/>
          </a:prstGeom>
          <a:solidFill>
            <a:srgbClr val="C4419A"/>
          </a:solidFill>
          <a:ln/>
        </p:spPr>
      </p:sp>
      <p:pic>
        <p:nvPicPr>
          <p:cNvPr id="6" name="Image 0" descr="icon_video_white.png">    </p:cNvPr>
          <p:cNvPicPr>
            <a:picLocks noChangeAspect="1"/>
          </p:cNvPicPr>
          <p:nvPr/>
        </p:nvPicPr>
        <p:blipFill>
          <a:blip r:embed="rId1"/>
          <a:stretch>
            <a:fillRect/>
          </a:stretch>
        </p:blipFill>
        <p:spPr>
          <a:xfrm>
            <a:off x="1695412" y="2674620"/>
            <a:ext cx="411480" cy="411480"/>
          </a:xfrm>
          <a:prstGeom prst="rect">
            <a:avLst/>
          </a:prstGeom>
        </p:spPr>
      </p:pic>
      <p:sp>
        <p:nvSpPr>
          <p:cNvPr id="7" name="Text 4"/>
          <p:cNvSpPr/>
          <p:nvPr/>
        </p:nvSpPr>
        <p:spPr>
          <a:xfrm>
            <a:off x="868680" y="3520440"/>
            <a:ext cx="2064944" cy="822960"/>
          </a:xfrm>
          <a:prstGeom prst="rect">
            <a:avLst/>
          </a:prstGeom>
          <a:noFill/>
          <a:ln/>
        </p:spPr>
        <p:txBody>
          <a:bodyPr wrap="square" lIns="0" tIns="0" rIns="0" bIns="0" rtlCol="0" anchor="ctr"/>
          <a:lstStyle/>
          <a:p>
            <a:pPr algn="ctr" indent="0" marL="0">
              <a:buNone/>
            </a:pPr>
            <a:r>
              <a:rPr lang="en-US" sz="1450" b="1" dirty="0">
                <a:solidFill>
                  <a:srgbClr val="F3EFE6"/>
                </a:solidFill>
                <a:latin typeface="Cambria" pitchFamily="34" charset="0"/>
                <a:ea typeface="Cambria" pitchFamily="34" charset="-122"/>
                <a:cs typeface="Cambria" pitchFamily="34" charset="-120"/>
              </a:rPr>
              <a:t>Video Led Product Pages</a:t>
            </a:r>
            <a:endParaRPr lang="en-US" sz="1450" dirty="0"/>
          </a:p>
        </p:txBody>
      </p:sp>
      <p:sp>
        <p:nvSpPr>
          <p:cNvPr id="8" name="Text 5"/>
          <p:cNvSpPr/>
          <p:nvPr/>
        </p:nvSpPr>
        <p:spPr>
          <a:xfrm>
            <a:off x="868680" y="4389120"/>
            <a:ext cx="2064944" cy="1371600"/>
          </a:xfrm>
          <a:prstGeom prst="rect">
            <a:avLst/>
          </a:prstGeom>
          <a:noFill/>
          <a:ln/>
        </p:spPr>
        <p:txBody>
          <a:bodyPr wrap="square" lIns="0" tIns="0" rIns="0" bIns="0" rtlCol="0" anchor="ctr"/>
          <a:lstStyle/>
          <a:p>
            <a:pPr algn="ctr" indent="0" marL="0">
              <a:lnSpc>
                <a:spcPct val="125000"/>
              </a:lnSpc>
              <a:buNone/>
            </a:pPr>
            <a:r>
              <a:rPr lang="en-US" sz="1100" dirty="0">
                <a:solidFill>
                  <a:srgbClr val="C9C4B6"/>
                </a:solidFill>
                <a:latin typeface="Calibri" pitchFamily="34" charset="0"/>
                <a:ea typeface="Calibri" pitchFamily="34" charset="-122"/>
                <a:cs typeface="Calibri" pitchFamily="34" charset="-120"/>
              </a:rPr>
              <a:t>Every piece shown in motion, never just a still. The way it moves is the way it sells.</a:t>
            </a:r>
            <a:endParaRPr lang="en-US" sz="1100" dirty="0"/>
          </a:p>
        </p:txBody>
      </p:sp>
      <p:sp>
        <p:nvSpPr>
          <p:cNvPr id="9" name="Shape 6"/>
          <p:cNvSpPr/>
          <p:nvPr/>
        </p:nvSpPr>
        <p:spPr>
          <a:xfrm>
            <a:off x="3436544" y="2103120"/>
            <a:ext cx="2522144" cy="3840480"/>
          </a:xfrm>
          <a:prstGeom prst="roundRect">
            <a:avLst>
              <a:gd name="adj" fmla="val 2900"/>
            </a:avLst>
          </a:prstGeom>
          <a:solidFill>
            <a:srgbClr val="14161C"/>
          </a:solidFill>
          <a:ln/>
        </p:spPr>
      </p:sp>
      <p:sp>
        <p:nvSpPr>
          <p:cNvPr id="10" name="Shape 7"/>
          <p:cNvSpPr/>
          <p:nvPr/>
        </p:nvSpPr>
        <p:spPr>
          <a:xfrm>
            <a:off x="4286136" y="2468880"/>
            <a:ext cx="822960" cy="822960"/>
          </a:xfrm>
          <a:prstGeom prst="ellipse">
            <a:avLst/>
          </a:prstGeom>
          <a:solidFill>
            <a:srgbClr val="16A39A"/>
          </a:solidFill>
          <a:ln/>
        </p:spPr>
      </p:sp>
      <p:pic>
        <p:nvPicPr>
          <p:cNvPr id="11" name="Image 1" descr="icon_music_white.png">    </p:cNvPr>
          <p:cNvPicPr>
            <a:picLocks noChangeAspect="1"/>
          </p:cNvPicPr>
          <p:nvPr/>
        </p:nvPicPr>
        <p:blipFill>
          <a:blip r:embed="rId2"/>
          <a:stretch>
            <a:fillRect/>
          </a:stretch>
        </p:blipFill>
        <p:spPr>
          <a:xfrm>
            <a:off x="4491876" y="2674620"/>
            <a:ext cx="411480" cy="411480"/>
          </a:xfrm>
          <a:prstGeom prst="rect">
            <a:avLst/>
          </a:prstGeom>
        </p:spPr>
      </p:pic>
      <p:sp>
        <p:nvSpPr>
          <p:cNvPr id="12" name="Text 8"/>
          <p:cNvSpPr/>
          <p:nvPr/>
        </p:nvSpPr>
        <p:spPr>
          <a:xfrm>
            <a:off x="3665144" y="3520440"/>
            <a:ext cx="2064944" cy="822960"/>
          </a:xfrm>
          <a:prstGeom prst="rect">
            <a:avLst/>
          </a:prstGeom>
          <a:noFill/>
          <a:ln/>
        </p:spPr>
        <p:txBody>
          <a:bodyPr wrap="square" lIns="0" tIns="0" rIns="0" bIns="0" rtlCol="0" anchor="ctr"/>
          <a:lstStyle/>
          <a:p>
            <a:pPr algn="ctr" indent="0" marL="0">
              <a:buNone/>
            </a:pPr>
            <a:r>
              <a:rPr lang="en-US" sz="1450" b="1" dirty="0">
                <a:solidFill>
                  <a:srgbClr val="F3EFE6"/>
                </a:solidFill>
                <a:latin typeface="Cambria" pitchFamily="34" charset="0"/>
                <a:ea typeface="Cambria" pitchFamily="34" charset="-122"/>
                <a:cs typeface="Cambria" pitchFamily="34" charset="-120"/>
              </a:rPr>
              <a:t>Ambient Music Per World</a:t>
            </a:r>
            <a:endParaRPr lang="en-US" sz="1450" dirty="0"/>
          </a:p>
        </p:txBody>
      </p:sp>
      <p:sp>
        <p:nvSpPr>
          <p:cNvPr id="13" name="Text 9"/>
          <p:cNvSpPr/>
          <p:nvPr/>
        </p:nvSpPr>
        <p:spPr>
          <a:xfrm>
            <a:off x="3665144" y="4389120"/>
            <a:ext cx="2064944" cy="1371600"/>
          </a:xfrm>
          <a:prstGeom prst="rect">
            <a:avLst/>
          </a:prstGeom>
          <a:noFill/>
          <a:ln/>
        </p:spPr>
        <p:txBody>
          <a:bodyPr wrap="square" lIns="0" tIns="0" rIns="0" bIns="0" rtlCol="0" anchor="ctr"/>
          <a:lstStyle/>
          <a:p>
            <a:pPr algn="ctr" indent="0" marL="0">
              <a:lnSpc>
                <a:spcPct val="125000"/>
              </a:lnSpc>
              <a:buNone/>
            </a:pPr>
            <a:r>
              <a:rPr lang="en-US" sz="1100" dirty="0">
                <a:solidFill>
                  <a:srgbClr val="C9C4B6"/>
                </a:solidFill>
                <a:latin typeface="Calibri" pitchFamily="34" charset="0"/>
                <a:ea typeface="Calibri" pitchFamily="34" charset="-122"/>
                <a:cs typeface="Calibri" pitchFamily="34" charset="-120"/>
              </a:rPr>
              <a:t>Each genre carries its own soundtrack, dropped in the moment she asks for it.</a:t>
            </a:r>
            <a:endParaRPr lang="en-US" sz="1100" dirty="0"/>
          </a:p>
        </p:txBody>
      </p:sp>
      <p:sp>
        <p:nvSpPr>
          <p:cNvPr id="14" name="Shape 10"/>
          <p:cNvSpPr/>
          <p:nvPr/>
        </p:nvSpPr>
        <p:spPr>
          <a:xfrm>
            <a:off x="6233008" y="2103120"/>
            <a:ext cx="2522144" cy="3840480"/>
          </a:xfrm>
          <a:prstGeom prst="roundRect">
            <a:avLst>
              <a:gd name="adj" fmla="val 2900"/>
            </a:avLst>
          </a:prstGeom>
          <a:solidFill>
            <a:srgbClr val="14161C"/>
          </a:solidFill>
          <a:ln/>
        </p:spPr>
      </p:sp>
      <p:sp>
        <p:nvSpPr>
          <p:cNvPr id="15" name="Shape 11"/>
          <p:cNvSpPr/>
          <p:nvPr/>
        </p:nvSpPr>
        <p:spPr>
          <a:xfrm>
            <a:off x="7082600" y="2468880"/>
            <a:ext cx="822960" cy="822960"/>
          </a:xfrm>
          <a:prstGeom prst="ellipse">
            <a:avLst/>
          </a:prstGeom>
          <a:solidFill>
            <a:srgbClr val="3F7FD6"/>
          </a:solidFill>
          <a:ln/>
        </p:spPr>
      </p:sp>
      <p:pic>
        <p:nvPicPr>
          <p:cNvPr id="16" name="Image 2" descr="icon_map_white.png">    </p:cNvPr>
          <p:cNvPicPr>
            <a:picLocks noChangeAspect="1"/>
          </p:cNvPicPr>
          <p:nvPr/>
        </p:nvPicPr>
        <p:blipFill>
          <a:blip r:embed="rId3"/>
          <a:stretch>
            <a:fillRect/>
          </a:stretch>
        </p:blipFill>
        <p:spPr>
          <a:xfrm>
            <a:off x="7288339" y="2674620"/>
            <a:ext cx="411480" cy="411480"/>
          </a:xfrm>
          <a:prstGeom prst="rect">
            <a:avLst/>
          </a:prstGeom>
        </p:spPr>
      </p:pic>
      <p:sp>
        <p:nvSpPr>
          <p:cNvPr id="17" name="Text 12"/>
          <p:cNvSpPr/>
          <p:nvPr/>
        </p:nvSpPr>
        <p:spPr>
          <a:xfrm>
            <a:off x="6461608" y="3520440"/>
            <a:ext cx="2064944" cy="822960"/>
          </a:xfrm>
          <a:prstGeom prst="rect">
            <a:avLst/>
          </a:prstGeom>
          <a:noFill/>
          <a:ln/>
        </p:spPr>
        <p:txBody>
          <a:bodyPr wrap="square" lIns="0" tIns="0" rIns="0" bIns="0" rtlCol="0" anchor="ctr"/>
          <a:lstStyle/>
          <a:p>
            <a:pPr algn="ctr" indent="0" marL="0">
              <a:buNone/>
            </a:pPr>
            <a:r>
              <a:rPr lang="en-US" sz="1450" b="1" dirty="0">
                <a:solidFill>
                  <a:srgbClr val="F3EFE6"/>
                </a:solidFill>
                <a:latin typeface="Cambria" pitchFamily="34" charset="0"/>
                <a:ea typeface="Cambria" pitchFamily="34" charset="-122"/>
                <a:cs typeface="Cambria" pitchFamily="34" charset="-120"/>
              </a:rPr>
              <a:t>The Bangalore Scene Map</a:t>
            </a:r>
            <a:endParaRPr lang="en-US" sz="1450" dirty="0"/>
          </a:p>
        </p:txBody>
      </p:sp>
      <p:sp>
        <p:nvSpPr>
          <p:cNvPr id="18" name="Text 13"/>
          <p:cNvSpPr/>
          <p:nvPr/>
        </p:nvSpPr>
        <p:spPr>
          <a:xfrm>
            <a:off x="6461608" y="4389120"/>
            <a:ext cx="2064944" cy="1371600"/>
          </a:xfrm>
          <a:prstGeom prst="rect">
            <a:avLst/>
          </a:prstGeom>
          <a:noFill/>
          <a:ln/>
        </p:spPr>
        <p:txBody>
          <a:bodyPr wrap="square" lIns="0" tIns="0" rIns="0" bIns="0" rtlCol="0" anchor="ctr"/>
          <a:lstStyle/>
          <a:p>
            <a:pPr algn="ctr" indent="0" marL="0">
              <a:lnSpc>
                <a:spcPct val="125000"/>
              </a:lnSpc>
              <a:buNone/>
            </a:pPr>
            <a:r>
              <a:rPr lang="en-US" sz="1100" dirty="0">
                <a:solidFill>
                  <a:srgbClr val="C9C4B6"/>
                </a:solidFill>
                <a:latin typeface="Calibri" pitchFamily="34" charset="0"/>
                <a:ea typeface="Calibri" pitchFamily="34" charset="-122"/>
                <a:cs typeface="Calibri" pitchFamily="34" charset="-120"/>
              </a:rPr>
              <a:t>A living, database fed map of the city's club nights and parties.</a:t>
            </a:r>
            <a:endParaRPr lang="en-US" sz="1100" dirty="0"/>
          </a:p>
        </p:txBody>
      </p:sp>
      <p:sp>
        <p:nvSpPr>
          <p:cNvPr id="19" name="Shape 14"/>
          <p:cNvSpPr/>
          <p:nvPr/>
        </p:nvSpPr>
        <p:spPr>
          <a:xfrm>
            <a:off x="9029471" y="2103120"/>
            <a:ext cx="2522144" cy="3840480"/>
          </a:xfrm>
          <a:prstGeom prst="roundRect">
            <a:avLst>
              <a:gd name="adj" fmla="val 2900"/>
            </a:avLst>
          </a:prstGeom>
          <a:solidFill>
            <a:srgbClr val="14161C"/>
          </a:solidFill>
          <a:ln/>
        </p:spPr>
      </p:sp>
      <p:sp>
        <p:nvSpPr>
          <p:cNvPr id="20" name="Shape 15"/>
          <p:cNvSpPr/>
          <p:nvPr/>
        </p:nvSpPr>
        <p:spPr>
          <a:xfrm>
            <a:off x="9879063" y="2468880"/>
            <a:ext cx="822960" cy="822960"/>
          </a:xfrm>
          <a:prstGeom prst="ellipse">
            <a:avLst/>
          </a:prstGeom>
          <a:solidFill>
            <a:srgbClr val="D9A13C"/>
          </a:solidFill>
          <a:ln/>
        </p:spPr>
      </p:sp>
      <p:pic>
        <p:nvPicPr>
          <p:cNvPr id="21" name="Image 3" descr="icon_crown_white.png">    </p:cNvPr>
          <p:cNvPicPr>
            <a:picLocks noChangeAspect="1"/>
          </p:cNvPicPr>
          <p:nvPr/>
        </p:nvPicPr>
        <p:blipFill>
          <a:blip r:embed="rId4"/>
          <a:stretch>
            <a:fillRect/>
          </a:stretch>
        </p:blipFill>
        <p:spPr>
          <a:xfrm>
            <a:off x="10084803" y="2674620"/>
            <a:ext cx="411480" cy="411480"/>
          </a:xfrm>
          <a:prstGeom prst="rect">
            <a:avLst/>
          </a:prstGeom>
        </p:spPr>
      </p:pic>
      <p:sp>
        <p:nvSpPr>
          <p:cNvPr id="22" name="Text 16"/>
          <p:cNvSpPr/>
          <p:nvPr/>
        </p:nvSpPr>
        <p:spPr>
          <a:xfrm>
            <a:off x="9258071" y="3520440"/>
            <a:ext cx="2064944" cy="822960"/>
          </a:xfrm>
          <a:prstGeom prst="rect">
            <a:avLst/>
          </a:prstGeom>
          <a:noFill/>
          <a:ln/>
        </p:spPr>
        <p:txBody>
          <a:bodyPr wrap="square" lIns="0" tIns="0" rIns="0" bIns="0" rtlCol="0" anchor="ctr"/>
          <a:lstStyle/>
          <a:p>
            <a:pPr algn="ctr" indent="0" marL="0">
              <a:buNone/>
            </a:pPr>
            <a:r>
              <a:rPr lang="en-US" sz="1450" b="1" dirty="0">
                <a:solidFill>
                  <a:srgbClr val="F3EFE6"/>
                </a:solidFill>
                <a:latin typeface="Cambria" pitchFamily="34" charset="0"/>
                <a:ea typeface="Cambria" pitchFamily="34" charset="-122"/>
                <a:cs typeface="Cambria" pitchFamily="34" charset="-120"/>
              </a:rPr>
              <a:t>omY'S Club Membership</a:t>
            </a:r>
            <a:endParaRPr lang="en-US" sz="1450" dirty="0"/>
          </a:p>
        </p:txBody>
      </p:sp>
      <p:sp>
        <p:nvSpPr>
          <p:cNvPr id="23" name="Text 17"/>
          <p:cNvSpPr/>
          <p:nvPr/>
        </p:nvSpPr>
        <p:spPr>
          <a:xfrm>
            <a:off x="9258071" y="4389120"/>
            <a:ext cx="2064944" cy="1371600"/>
          </a:xfrm>
          <a:prstGeom prst="rect">
            <a:avLst/>
          </a:prstGeom>
          <a:noFill/>
          <a:ln/>
        </p:spPr>
        <p:txBody>
          <a:bodyPr wrap="square" lIns="0" tIns="0" rIns="0" bIns="0" rtlCol="0" anchor="ctr"/>
          <a:lstStyle/>
          <a:p>
            <a:pPr algn="ctr" indent="0" marL="0">
              <a:lnSpc>
                <a:spcPct val="125000"/>
              </a:lnSpc>
              <a:buNone/>
            </a:pPr>
            <a:r>
              <a:rPr lang="en-US" sz="1100" dirty="0">
                <a:solidFill>
                  <a:srgbClr val="C9C4B6"/>
                </a:solidFill>
                <a:latin typeface="Calibri" pitchFamily="34" charset="0"/>
                <a:ea typeface="Calibri" pitchFamily="34" charset="-122"/>
                <a:cs typeface="Calibri" pitchFamily="34" charset="-120"/>
              </a:rPr>
              <a:t>A paid tier for exclusive content, early drops, and a place to belong.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roundRect">
            <a:avLst>
              <a:gd name="adj" fmla="val 16667"/>
            </a:avLst>
          </a:prstGeom>
          <a:solidFill>
            <a:srgbClr val="3F7FD6"/>
          </a:solidFill>
          <a:ln/>
        </p:spPr>
      </p:sp>
      <p:pic>
        <p:nvPicPr>
          <p:cNvPr id="3" name="Image 0" descr="icon_map_white.png">    </p:cNvPr>
          <p:cNvPicPr>
            <a:picLocks noChangeAspect="1"/>
          </p:cNvPicPr>
          <p:nvPr/>
        </p:nvPicPr>
        <p:blipFill>
          <a:blip r:embed="rId1"/>
          <a:stretch>
            <a:fillRect/>
          </a:stretch>
        </p:blipFill>
        <p:spPr>
          <a:xfrm>
            <a:off x="845820" y="662940"/>
            <a:ext cx="411480" cy="411480"/>
          </a:xfrm>
          <a:prstGeom prst="rect">
            <a:avLst/>
          </a:prstGeom>
        </p:spPr>
      </p:pic>
      <p:sp>
        <p:nvSpPr>
          <p:cNvPr id="4" name="Text 1"/>
          <p:cNvSpPr/>
          <p:nvPr/>
        </p:nvSpPr>
        <p:spPr>
          <a:xfrm>
            <a:off x="1691640" y="502920"/>
            <a:ext cx="9144000" cy="457200"/>
          </a:xfrm>
          <a:prstGeom prst="rect">
            <a:avLst/>
          </a:prstGeom>
          <a:noFill/>
          <a:ln/>
        </p:spPr>
        <p:txBody>
          <a:bodyPr wrap="square" lIns="0" tIns="0" rIns="0" bIns="0" rtlCol="0" anchor="ctr"/>
          <a:lstStyle/>
          <a:p>
            <a:pPr indent="0" marL="0">
              <a:buNone/>
            </a:pPr>
            <a:r>
              <a:rPr lang="en-US" sz="2600" b="1" dirty="0">
                <a:solidFill>
                  <a:srgbClr val="0B0C10"/>
                </a:solidFill>
                <a:latin typeface="Cambria" pitchFamily="34" charset="0"/>
                <a:ea typeface="Cambria" pitchFamily="34" charset="-122"/>
                <a:cs typeface="Cambria" pitchFamily="34" charset="-120"/>
              </a:rPr>
              <a:t>The Map: Bangalore's Party Scene</a:t>
            </a:r>
            <a:endParaRPr lang="en-US" sz="2600" dirty="0"/>
          </a:p>
        </p:txBody>
      </p:sp>
      <p:sp>
        <p:nvSpPr>
          <p:cNvPr id="5" name="Text 2"/>
          <p:cNvSpPr/>
          <p:nvPr/>
        </p:nvSpPr>
        <p:spPr>
          <a:xfrm>
            <a:off x="1691640" y="960120"/>
            <a:ext cx="9144000" cy="365760"/>
          </a:xfrm>
          <a:prstGeom prst="rect">
            <a:avLst/>
          </a:prstGeom>
          <a:noFill/>
          <a:ln/>
        </p:spPr>
        <p:txBody>
          <a:bodyPr wrap="square" lIns="0" tIns="0" rIns="0" bIns="0" rtlCol="0" anchor="ctr"/>
          <a:lstStyle/>
          <a:p>
            <a:pPr indent="0" marL="0">
              <a:buNone/>
            </a:pPr>
            <a:r>
              <a:rPr lang="en-US" sz="1300" dirty="0">
                <a:solidFill>
                  <a:srgbClr val="3A3D46"/>
                </a:solidFill>
                <a:latin typeface="Calibri" pitchFamily="34" charset="0"/>
                <a:ea typeface="Calibri" pitchFamily="34" charset="-122"/>
                <a:cs typeface="Calibri" pitchFamily="34" charset="-120"/>
              </a:rPr>
              <a:t>A living, database fed map of club nights and events. Never a static directory.</a:t>
            </a:r>
            <a:endParaRPr lang="en-US" sz="1300" dirty="0"/>
          </a:p>
        </p:txBody>
      </p:sp>
      <p:sp>
        <p:nvSpPr>
          <p:cNvPr id="6" name="Shape 3"/>
          <p:cNvSpPr/>
          <p:nvPr/>
        </p:nvSpPr>
        <p:spPr>
          <a:xfrm>
            <a:off x="640080" y="1965960"/>
            <a:ext cx="5577840" cy="4160520"/>
          </a:xfrm>
          <a:prstGeom prst="roundRect">
            <a:avLst>
              <a:gd name="adj" fmla="val 1758"/>
            </a:avLst>
          </a:prstGeom>
          <a:solidFill>
            <a:srgbClr val="0B0C10"/>
          </a:solidFill>
          <a:ln/>
        </p:spPr>
      </p:sp>
      <p:sp>
        <p:nvSpPr>
          <p:cNvPr id="7" name="Shape 4"/>
          <p:cNvSpPr/>
          <p:nvPr/>
        </p:nvSpPr>
        <p:spPr>
          <a:xfrm>
            <a:off x="1737360" y="2971800"/>
            <a:ext cx="201168" cy="201168"/>
          </a:xfrm>
          <a:prstGeom prst="ellipse">
            <a:avLst/>
          </a:prstGeom>
          <a:solidFill>
            <a:srgbClr val="D9A13C"/>
          </a:solidFill>
          <a:ln w="19050">
            <a:solidFill>
              <a:srgbClr val="0B0C10"/>
            </a:solidFill>
            <a:prstDash val="solid"/>
          </a:ln>
        </p:spPr>
      </p:sp>
      <p:sp>
        <p:nvSpPr>
          <p:cNvPr id="8" name="Shape 5"/>
          <p:cNvSpPr/>
          <p:nvPr/>
        </p:nvSpPr>
        <p:spPr>
          <a:xfrm>
            <a:off x="3017520" y="4069080"/>
            <a:ext cx="201168" cy="201168"/>
          </a:xfrm>
          <a:prstGeom prst="ellipse">
            <a:avLst/>
          </a:prstGeom>
          <a:solidFill>
            <a:srgbClr val="C4419A"/>
          </a:solidFill>
          <a:ln w="19050">
            <a:solidFill>
              <a:srgbClr val="0B0C10"/>
            </a:solidFill>
            <a:prstDash val="solid"/>
          </a:ln>
        </p:spPr>
      </p:sp>
      <p:sp>
        <p:nvSpPr>
          <p:cNvPr id="9" name="Shape 6"/>
          <p:cNvSpPr/>
          <p:nvPr/>
        </p:nvSpPr>
        <p:spPr>
          <a:xfrm>
            <a:off x="4572000" y="3246120"/>
            <a:ext cx="201168" cy="201168"/>
          </a:xfrm>
          <a:prstGeom prst="ellipse">
            <a:avLst/>
          </a:prstGeom>
          <a:solidFill>
            <a:srgbClr val="16A39A"/>
          </a:solidFill>
          <a:ln w="19050">
            <a:solidFill>
              <a:srgbClr val="0B0C10"/>
            </a:solidFill>
            <a:prstDash val="solid"/>
          </a:ln>
        </p:spPr>
      </p:sp>
      <p:sp>
        <p:nvSpPr>
          <p:cNvPr id="10" name="Shape 7"/>
          <p:cNvSpPr/>
          <p:nvPr/>
        </p:nvSpPr>
        <p:spPr>
          <a:xfrm>
            <a:off x="3749040" y="5074920"/>
            <a:ext cx="201168" cy="201168"/>
          </a:xfrm>
          <a:prstGeom prst="ellipse">
            <a:avLst/>
          </a:prstGeom>
          <a:solidFill>
            <a:srgbClr val="3F7FD6"/>
          </a:solidFill>
          <a:ln w="19050">
            <a:solidFill>
              <a:srgbClr val="0B0C10"/>
            </a:solidFill>
            <a:prstDash val="solid"/>
          </a:ln>
        </p:spPr>
      </p:sp>
      <p:sp>
        <p:nvSpPr>
          <p:cNvPr id="11" name="Shape 8"/>
          <p:cNvSpPr/>
          <p:nvPr/>
        </p:nvSpPr>
        <p:spPr>
          <a:xfrm>
            <a:off x="5394960" y="4709160"/>
            <a:ext cx="201168" cy="201168"/>
          </a:xfrm>
          <a:prstGeom prst="ellipse">
            <a:avLst/>
          </a:prstGeom>
          <a:solidFill>
            <a:srgbClr val="D9A13C"/>
          </a:solidFill>
          <a:ln w="19050">
            <a:solidFill>
              <a:srgbClr val="0B0C10"/>
            </a:solidFill>
            <a:prstDash val="solid"/>
          </a:ln>
        </p:spPr>
      </p:sp>
      <p:sp>
        <p:nvSpPr>
          <p:cNvPr id="12" name="Shape 9"/>
          <p:cNvSpPr/>
          <p:nvPr/>
        </p:nvSpPr>
        <p:spPr>
          <a:xfrm>
            <a:off x="2286000" y="5257800"/>
            <a:ext cx="201168" cy="201168"/>
          </a:xfrm>
          <a:prstGeom prst="ellipse">
            <a:avLst/>
          </a:prstGeom>
          <a:solidFill>
            <a:srgbClr val="C4419A"/>
          </a:solidFill>
          <a:ln w="19050">
            <a:solidFill>
              <a:srgbClr val="0B0C10"/>
            </a:solidFill>
            <a:prstDash val="solid"/>
          </a:ln>
        </p:spPr>
      </p:sp>
      <p:sp>
        <p:nvSpPr>
          <p:cNvPr id="13" name="Text 10"/>
          <p:cNvSpPr/>
          <p:nvPr/>
        </p:nvSpPr>
        <p:spPr>
          <a:xfrm>
            <a:off x="914400" y="5623560"/>
            <a:ext cx="5029200" cy="365760"/>
          </a:xfrm>
          <a:prstGeom prst="rect">
            <a:avLst/>
          </a:prstGeom>
          <a:noFill/>
          <a:ln/>
        </p:spPr>
        <p:txBody>
          <a:bodyPr wrap="square" lIns="0" tIns="0" rIns="0" bIns="0" rtlCol="0" anchor="ctr"/>
          <a:lstStyle/>
          <a:p>
            <a:pPr indent="0" marL="0">
              <a:buNone/>
            </a:pPr>
            <a:r>
              <a:rPr lang="en-US" sz="1050" dirty="0">
                <a:solidFill>
                  <a:srgbClr val="C9C4B6"/>
                </a:solidFill>
                <a:latin typeface="Calibri" pitchFamily="34" charset="0"/>
                <a:ea typeface="Calibri" pitchFamily="34" charset="-122"/>
                <a:cs typeface="Calibri" pitchFamily="34" charset="-120"/>
              </a:rPr>
              <a:t>Live venue pins, sourced from the events database</a:t>
            </a:r>
            <a:endParaRPr lang="en-US" sz="1050" dirty="0"/>
          </a:p>
        </p:txBody>
      </p:sp>
      <p:sp>
        <p:nvSpPr>
          <p:cNvPr id="14" name="Shape 11"/>
          <p:cNvSpPr/>
          <p:nvPr/>
        </p:nvSpPr>
        <p:spPr>
          <a:xfrm>
            <a:off x="6492240" y="2011680"/>
            <a:ext cx="320040" cy="320040"/>
          </a:xfrm>
          <a:prstGeom prst="ellipse">
            <a:avLst/>
          </a:prstGeom>
          <a:solidFill>
            <a:srgbClr val="3F7FD6"/>
          </a:solidFill>
          <a:ln/>
        </p:spPr>
      </p:sp>
      <p:sp>
        <p:nvSpPr>
          <p:cNvPr id="15" name="Text 12"/>
          <p:cNvSpPr/>
          <p:nvPr/>
        </p:nvSpPr>
        <p:spPr>
          <a:xfrm>
            <a:off x="6492240" y="20116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3"/>
          <p:cNvSpPr/>
          <p:nvPr/>
        </p:nvSpPr>
        <p:spPr>
          <a:xfrm>
            <a:off x="6995160" y="1965960"/>
            <a:ext cx="4572000" cy="365760"/>
          </a:xfrm>
          <a:prstGeom prst="rect">
            <a:avLst/>
          </a:prstGeom>
          <a:noFill/>
          <a:ln/>
        </p:spPr>
        <p:txBody>
          <a:bodyPr wrap="square" lIns="0" tIns="0" rIns="0" bIns="0" rtlCol="0" anchor="ctr"/>
          <a:lstStyle/>
          <a:p>
            <a:pPr indent="0" marL="0">
              <a:buNone/>
            </a:pPr>
            <a:r>
              <a:rPr lang="en-US" sz="1500" b="1" dirty="0">
                <a:solidFill>
                  <a:srgbClr val="0B0C10"/>
                </a:solidFill>
                <a:latin typeface="Cambria" pitchFamily="34" charset="0"/>
                <a:ea typeface="Cambria" pitchFamily="34" charset="-122"/>
                <a:cs typeface="Cambria" pitchFamily="34" charset="-120"/>
              </a:rPr>
              <a:t>Always current</a:t>
            </a:r>
            <a:endParaRPr lang="en-US" sz="1500" dirty="0"/>
          </a:p>
        </p:txBody>
      </p:sp>
      <p:sp>
        <p:nvSpPr>
          <p:cNvPr id="17" name="Text 14"/>
          <p:cNvSpPr/>
          <p:nvPr/>
        </p:nvSpPr>
        <p:spPr>
          <a:xfrm>
            <a:off x="6995160" y="2350008"/>
            <a:ext cx="4572000" cy="777240"/>
          </a:xfrm>
          <a:prstGeom prst="rect">
            <a:avLst/>
          </a:prstGeom>
          <a:noFill/>
          <a:ln/>
        </p:spPr>
        <p:txBody>
          <a:bodyPr wrap="square" lIns="0" tIns="0" rIns="0" bIns="0" rtlCol="0" anchor="ctr"/>
          <a:lstStyle/>
          <a:p>
            <a:pPr indent="0" marL="0">
              <a:lnSpc>
                <a:spcPct val="125000"/>
              </a:lnSpc>
              <a:buNone/>
            </a:pPr>
            <a:r>
              <a:rPr lang="en-US" sz="1200" dirty="0">
                <a:solidFill>
                  <a:srgbClr val="3A3D46"/>
                </a:solidFill>
                <a:latin typeface="Calibri" pitchFamily="34" charset="0"/>
                <a:ea typeface="Calibri" pitchFamily="34" charset="-122"/>
                <a:cs typeface="Calibri" pitchFamily="34" charset="-120"/>
              </a:rPr>
              <a:t>Venues and events pulled live from a database, not hardcoded. No stale listings by month two.</a:t>
            </a:r>
            <a:endParaRPr lang="en-US" sz="1200" dirty="0"/>
          </a:p>
        </p:txBody>
      </p:sp>
      <p:sp>
        <p:nvSpPr>
          <p:cNvPr id="18" name="Shape 15"/>
          <p:cNvSpPr/>
          <p:nvPr/>
        </p:nvSpPr>
        <p:spPr>
          <a:xfrm>
            <a:off x="6492240" y="3383280"/>
            <a:ext cx="320040" cy="320040"/>
          </a:xfrm>
          <a:prstGeom prst="ellipse">
            <a:avLst/>
          </a:prstGeom>
          <a:solidFill>
            <a:srgbClr val="3F7FD6"/>
          </a:solidFill>
          <a:ln/>
        </p:spPr>
      </p:sp>
      <p:sp>
        <p:nvSpPr>
          <p:cNvPr id="19" name="Text 16"/>
          <p:cNvSpPr/>
          <p:nvPr/>
        </p:nvSpPr>
        <p:spPr>
          <a:xfrm>
            <a:off x="6492240" y="33832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7"/>
          <p:cNvSpPr/>
          <p:nvPr/>
        </p:nvSpPr>
        <p:spPr>
          <a:xfrm>
            <a:off x="6995160" y="3337560"/>
            <a:ext cx="4572000" cy="365760"/>
          </a:xfrm>
          <a:prstGeom prst="rect">
            <a:avLst/>
          </a:prstGeom>
          <a:noFill/>
          <a:ln/>
        </p:spPr>
        <p:txBody>
          <a:bodyPr wrap="square" lIns="0" tIns="0" rIns="0" bIns="0" rtlCol="0" anchor="ctr"/>
          <a:lstStyle/>
          <a:p>
            <a:pPr indent="0" marL="0">
              <a:buNone/>
            </a:pPr>
            <a:r>
              <a:rPr lang="en-US" sz="1500" b="1" dirty="0">
                <a:solidFill>
                  <a:srgbClr val="0B0C10"/>
                </a:solidFill>
                <a:latin typeface="Cambria" pitchFamily="34" charset="0"/>
                <a:ea typeface="Cambria" pitchFamily="34" charset="-122"/>
                <a:cs typeface="Cambria" pitchFamily="34" charset="-120"/>
              </a:rPr>
              <a:t>A lightweight admin path</a:t>
            </a:r>
            <a:endParaRPr lang="en-US" sz="1500" dirty="0"/>
          </a:p>
        </p:txBody>
      </p:sp>
      <p:sp>
        <p:nvSpPr>
          <p:cNvPr id="21" name="Text 18"/>
          <p:cNvSpPr/>
          <p:nvPr/>
        </p:nvSpPr>
        <p:spPr>
          <a:xfrm>
            <a:off x="6995160" y="3721608"/>
            <a:ext cx="4572000" cy="777240"/>
          </a:xfrm>
          <a:prstGeom prst="rect">
            <a:avLst/>
          </a:prstGeom>
          <a:noFill/>
          <a:ln/>
        </p:spPr>
        <p:txBody>
          <a:bodyPr wrap="square" lIns="0" tIns="0" rIns="0" bIns="0" rtlCol="0" anchor="ctr"/>
          <a:lstStyle/>
          <a:p>
            <a:pPr indent="0" marL="0">
              <a:lnSpc>
                <a:spcPct val="125000"/>
              </a:lnSpc>
              <a:buNone/>
            </a:pPr>
            <a:r>
              <a:rPr lang="en-US" sz="1200" dirty="0">
                <a:solidFill>
                  <a:srgbClr val="3A3D46"/>
                </a:solidFill>
                <a:latin typeface="Calibri" pitchFamily="34" charset="0"/>
                <a:ea typeface="Calibri" pitchFamily="34" charset="-122"/>
                <a:cs typeface="Calibri" pitchFamily="34" charset="-120"/>
              </a:rPr>
              <a:t>A non dev friendly way to add and update listings, so the map stays alive long after launch.</a:t>
            </a:r>
            <a:endParaRPr lang="en-US" sz="1200" dirty="0"/>
          </a:p>
        </p:txBody>
      </p:sp>
      <p:sp>
        <p:nvSpPr>
          <p:cNvPr id="22" name="Shape 19"/>
          <p:cNvSpPr/>
          <p:nvPr/>
        </p:nvSpPr>
        <p:spPr>
          <a:xfrm>
            <a:off x="6492240" y="4754880"/>
            <a:ext cx="320040" cy="320040"/>
          </a:xfrm>
          <a:prstGeom prst="ellipse">
            <a:avLst/>
          </a:prstGeom>
          <a:solidFill>
            <a:srgbClr val="3F7FD6"/>
          </a:solidFill>
          <a:ln/>
        </p:spPr>
      </p:sp>
      <p:sp>
        <p:nvSpPr>
          <p:cNvPr id="23" name="Text 20"/>
          <p:cNvSpPr/>
          <p:nvPr/>
        </p:nvSpPr>
        <p:spPr>
          <a:xfrm>
            <a:off x="6492240" y="47548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1"/>
          <p:cNvSpPr/>
          <p:nvPr/>
        </p:nvSpPr>
        <p:spPr>
          <a:xfrm>
            <a:off x="6995160" y="4709160"/>
            <a:ext cx="4572000" cy="365760"/>
          </a:xfrm>
          <a:prstGeom prst="rect">
            <a:avLst/>
          </a:prstGeom>
          <a:noFill/>
          <a:ln/>
        </p:spPr>
        <p:txBody>
          <a:bodyPr wrap="square" lIns="0" tIns="0" rIns="0" bIns="0" rtlCol="0" anchor="ctr"/>
          <a:lstStyle/>
          <a:p>
            <a:pPr indent="0" marL="0">
              <a:buNone/>
            </a:pPr>
            <a:r>
              <a:rPr lang="en-US" sz="1500" b="1" dirty="0">
                <a:solidFill>
                  <a:srgbClr val="0B0C10"/>
                </a:solidFill>
                <a:latin typeface="Cambria" pitchFamily="34" charset="0"/>
                <a:ea typeface="Cambria" pitchFamily="34" charset="-122"/>
                <a:cs typeface="Cambria" pitchFamily="34" charset="-120"/>
              </a:rPr>
              <a:t>A reason to come back</a:t>
            </a:r>
            <a:endParaRPr lang="en-US" sz="1500" dirty="0"/>
          </a:p>
        </p:txBody>
      </p:sp>
      <p:sp>
        <p:nvSpPr>
          <p:cNvPr id="25" name="Text 22"/>
          <p:cNvSpPr/>
          <p:nvPr/>
        </p:nvSpPr>
        <p:spPr>
          <a:xfrm>
            <a:off x="6995160" y="5093208"/>
            <a:ext cx="4572000" cy="777240"/>
          </a:xfrm>
          <a:prstGeom prst="rect">
            <a:avLst/>
          </a:prstGeom>
          <a:noFill/>
          <a:ln/>
        </p:spPr>
        <p:txBody>
          <a:bodyPr wrap="square" lIns="0" tIns="0" rIns="0" bIns="0" rtlCol="0" anchor="ctr"/>
          <a:lstStyle/>
          <a:p>
            <a:pPr indent="0" marL="0">
              <a:lnSpc>
                <a:spcPct val="125000"/>
              </a:lnSpc>
              <a:buNone/>
            </a:pPr>
            <a:r>
              <a:rPr lang="en-US" sz="1200" dirty="0">
                <a:solidFill>
                  <a:srgbClr val="3A3D46"/>
                </a:solidFill>
                <a:latin typeface="Calibri" pitchFamily="34" charset="0"/>
                <a:ea typeface="Calibri" pitchFamily="34" charset="-122"/>
                <a:cs typeface="Calibri" pitchFamily="34" charset="-120"/>
              </a:rPr>
              <a:t>Positions YNS as a nightlife authority, not only a storefront. Repeat visits between drops.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C10"/>
        </a:solidFill>
      </p:bgPr>
    </p:bg>
    <p:spTree>
      <p:nvGrpSpPr>
        <p:cNvPr id="1" name=""/>
        <p:cNvGrpSpPr/>
        <p:nvPr/>
      </p:nvGrpSpPr>
      <p:grpSpPr>
        <a:xfrm>
          <a:off x="0" y="0"/>
          <a:ext cx="0" cy="0"/>
          <a:chOff x="0" y="0"/>
          <a:chExt cx="0" cy="0"/>
        </a:xfrm>
      </p:grpSpPr>
      <p:sp>
        <p:nvSpPr>
          <p:cNvPr id="2" name="Shape 0"/>
          <p:cNvSpPr/>
          <p:nvPr/>
        </p:nvSpPr>
        <p:spPr>
          <a:xfrm>
            <a:off x="640080" y="457200"/>
            <a:ext cx="822960" cy="822960"/>
          </a:xfrm>
          <a:prstGeom prst="roundRect">
            <a:avLst>
              <a:gd name="adj" fmla="val 16667"/>
            </a:avLst>
          </a:prstGeom>
          <a:solidFill>
            <a:srgbClr val="D9A13C"/>
          </a:solidFill>
          <a:ln/>
        </p:spPr>
      </p:sp>
      <p:pic>
        <p:nvPicPr>
          <p:cNvPr id="3" name="Image 0" descr="icon_crown_ink.png">    </p:cNvPr>
          <p:cNvPicPr>
            <a:picLocks noChangeAspect="1"/>
          </p:cNvPicPr>
          <p:nvPr/>
        </p:nvPicPr>
        <p:blipFill>
          <a:blip r:embed="rId1"/>
          <a:stretch>
            <a:fillRect/>
          </a:stretch>
        </p:blipFill>
        <p:spPr>
          <a:xfrm>
            <a:off x="845820" y="662940"/>
            <a:ext cx="411480" cy="411480"/>
          </a:xfrm>
          <a:prstGeom prst="rect">
            <a:avLst/>
          </a:prstGeom>
        </p:spPr>
      </p:pic>
      <p:sp>
        <p:nvSpPr>
          <p:cNvPr id="4" name="Text 1"/>
          <p:cNvSpPr/>
          <p:nvPr/>
        </p:nvSpPr>
        <p:spPr>
          <a:xfrm>
            <a:off x="1691640" y="502920"/>
            <a:ext cx="9144000" cy="457200"/>
          </a:xfrm>
          <a:prstGeom prst="rect">
            <a:avLst/>
          </a:prstGeom>
          <a:noFill/>
          <a:ln/>
        </p:spPr>
        <p:txBody>
          <a:bodyPr wrap="square" lIns="0" tIns="0" rIns="0" bIns="0" rtlCol="0" anchor="ctr"/>
          <a:lstStyle/>
          <a:p>
            <a:pPr indent="0" marL="0">
              <a:buNone/>
            </a:pPr>
            <a:r>
              <a:rPr lang="en-US" sz="2600" b="1" dirty="0">
                <a:solidFill>
                  <a:srgbClr val="F3EFE6"/>
                </a:solidFill>
                <a:latin typeface="Cambria" pitchFamily="34" charset="0"/>
                <a:ea typeface="Cambria" pitchFamily="34" charset="-122"/>
                <a:cs typeface="Cambria" pitchFamily="34" charset="-120"/>
              </a:rPr>
              <a:t>omY'S Club: Paid Membership</a:t>
            </a:r>
            <a:endParaRPr lang="en-US" sz="2600" dirty="0"/>
          </a:p>
        </p:txBody>
      </p:sp>
      <p:sp>
        <p:nvSpPr>
          <p:cNvPr id="5" name="Text 2"/>
          <p:cNvSpPr/>
          <p:nvPr/>
        </p:nvSpPr>
        <p:spPr>
          <a:xfrm>
            <a:off x="1691640" y="960120"/>
            <a:ext cx="9144000" cy="365760"/>
          </a:xfrm>
          <a:prstGeom prst="rect">
            <a:avLst/>
          </a:prstGeom>
          <a:noFill/>
          <a:ln/>
        </p:spPr>
        <p:txBody>
          <a:bodyPr wrap="square" lIns="0" tIns="0" rIns="0" bIns="0" rtlCol="0" anchor="ctr"/>
          <a:lstStyle/>
          <a:p>
            <a:pPr indent="0" marL="0">
              <a:buNone/>
            </a:pPr>
            <a:r>
              <a:rPr lang="en-US" sz="1300" i="1" dirty="0">
                <a:solidFill>
                  <a:srgbClr val="D9A13C"/>
                </a:solidFill>
                <a:latin typeface="Calibri" pitchFamily="34" charset="0"/>
                <a:ea typeface="Calibri" pitchFamily="34" charset="-122"/>
                <a:cs typeface="Calibri" pitchFamily="34" charset="-120"/>
              </a:rPr>
              <a:t>You don't shop here. You belong here.</a:t>
            </a:r>
            <a:endParaRPr lang="en-US" sz="1300" dirty="0"/>
          </a:p>
        </p:txBody>
      </p:sp>
      <p:sp>
        <p:nvSpPr>
          <p:cNvPr id="6" name="Shape 3"/>
          <p:cNvSpPr/>
          <p:nvPr/>
        </p:nvSpPr>
        <p:spPr>
          <a:xfrm>
            <a:off x="640080" y="2103120"/>
            <a:ext cx="5577840" cy="1234440"/>
          </a:xfrm>
          <a:prstGeom prst="roundRect">
            <a:avLst>
              <a:gd name="adj" fmla="val 5926"/>
            </a:avLst>
          </a:prstGeom>
          <a:solidFill>
            <a:srgbClr val="14161C"/>
          </a:solidFill>
          <a:ln/>
        </p:spPr>
      </p:sp>
      <p:sp>
        <p:nvSpPr>
          <p:cNvPr id="7" name="Text 4"/>
          <p:cNvSpPr/>
          <p:nvPr/>
        </p:nvSpPr>
        <p:spPr>
          <a:xfrm>
            <a:off x="960120" y="2267712"/>
            <a:ext cx="4937760" cy="365760"/>
          </a:xfrm>
          <a:prstGeom prst="rect">
            <a:avLst/>
          </a:prstGeom>
          <a:noFill/>
          <a:ln/>
        </p:spPr>
        <p:txBody>
          <a:bodyPr wrap="square" lIns="0" tIns="0" rIns="0" bIns="0" rtlCol="0" anchor="ctr"/>
          <a:lstStyle/>
          <a:p>
            <a:pPr indent="0" marL="0">
              <a:buNone/>
            </a:pPr>
            <a:r>
              <a:rPr lang="en-US" sz="1500" b="1" dirty="0">
                <a:solidFill>
                  <a:srgbClr val="F3EFE6"/>
                </a:solidFill>
                <a:latin typeface="Cambria" pitchFamily="34" charset="0"/>
                <a:ea typeface="Cambria" pitchFamily="34" charset="-122"/>
                <a:cs typeface="Cambria" pitchFamily="34" charset="-120"/>
              </a:rPr>
              <a:t>Exclusive content</a:t>
            </a:r>
            <a:endParaRPr lang="en-US" sz="1500" dirty="0"/>
          </a:p>
        </p:txBody>
      </p:sp>
      <p:sp>
        <p:nvSpPr>
          <p:cNvPr id="8" name="Text 5"/>
          <p:cNvSpPr/>
          <p:nvPr/>
        </p:nvSpPr>
        <p:spPr>
          <a:xfrm>
            <a:off x="960120" y="2651760"/>
            <a:ext cx="4937760" cy="594360"/>
          </a:xfrm>
          <a:prstGeom prst="rect">
            <a:avLst/>
          </a:prstGeom>
          <a:noFill/>
          <a:ln/>
        </p:spPr>
        <p:txBody>
          <a:bodyPr wrap="square" lIns="0" tIns="0" rIns="0" bIns="0" rtlCol="0" anchor="ctr"/>
          <a:lstStyle/>
          <a:p>
            <a:pPr indent="0" marL="0">
              <a:lnSpc>
                <a:spcPct val="120000"/>
              </a:lnSpc>
              <a:buNone/>
            </a:pPr>
            <a:r>
              <a:rPr lang="en-US" sz="1150" dirty="0">
                <a:solidFill>
                  <a:srgbClr val="C9C4B6"/>
                </a:solidFill>
                <a:latin typeface="Calibri" pitchFamily="34" charset="0"/>
                <a:ea typeface="Calibri" pitchFamily="34" charset="-122"/>
                <a:cs typeface="Calibri" pitchFamily="34" charset="-120"/>
              </a:rPr>
              <a:t>Behind the scenes, drop previews, artist collabs. Gated to members, made for them.</a:t>
            </a:r>
            <a:endParaRPr lang="en-US" sz="1150" dirty="0"/>
          </a:p>
        </p:txBody>
      </p:sp>
      <p:sp>
        <p:nvSpPr>
          <p:cNvPr id="9" name="Shape 6"/>
          <p:cNvSpPr/>
          <p:nvPr/>
        </p:nvSpPr>
        <p:spPr>
          <a:xfrm>
            <a:off x="640080" y="3566160"/>
            <a:ext cx="5577840" cy="1234440"/>
          </a:xfrm>
          <a:prstGeom prst="roundRect">
            <a:avLst>
              <a:gd name="adj" fmla="val 5926"/>
            </a:avLst>
          </a:prstGeom>
          <a:solidFill>
            <a:srgbClr val="14161C"/>
          </a:solidFill>
          <a:ln/>
        </p:spPr>
      </p:sp>
      <p:sp>
        <p:nvSpPr>
          <p:cNvPr id="10" name="Text 7"/>
          <p:cNvSpPr/>
          <p:nvPr/>
        </p:nvSpPr>
        <p:spPr>
          <a:xfrm>
            <a:off x="960120" y="3730752"/>
            <a:ext cx="4937760" cy="365760"/>
          </a:xfrm>
          <a:prstGeom prst="rect">
            <a:avLst/>
          </a:prstGeom>
          <a:noFill/>
          <a:ln/>
        </p:spPr>
        <p:txBody>
          <a:bodyPr wrap="square" lIns="0" tIns="0" rIns="0" bIns="0" rtlCol="0" anchor="ctr"/>
          <a:lstStyle/>
          <a:p>
            <a:pPr indent="0" marL="0">
              <a:buNone/>
            </a:pPr>
            <a:r>
              <a:rPr lang="en-US" sz="1500" b="1" dirty="0">
                <a:solidFill>
                  <a:srgbClr val="F3EFE6"/>
                </a:solidFill>
                <a:latin typeface="Cambria" pitchFamily="34" charset="0"/>
                <a:ea typeface="Cambria" pitchFamily="34" charset="-122"/>
                <a:cs typeface="Cambria" pitchFamily="34" charset="-120"/>
              </a:rPr>
              <a:t>Early access</a:t>
            </a:r>
            <a:endParaRPr lang="en-US" sz="1500" dirty="0"/>
          </a:p>
        </p:txBody>
      </p:sp>
      <p:sp>
        <p:nvSpPr>
          <p:cNvPr id="11" name="Text 8"/>
          <p:cNvSpPr/>
          <p:nvPr/>
        </p:nvSpPr>
        <p:spPr>
          <a:xfrm>
            <a:off x="960120" y="4114800"/>
            <a:ext cx="4937760" cy="594360"/>
          </a:xfrm>
          <a:prstGeom prst="rect">
            <a:avLst/>
          </a:prstGeom>
          <a:noFill/>
          <a:ln/>
        </p:spPr>
        <p:txBody>
          <a:bodyPr wrap="square" lIns="0" tIns="0" rIns="0" bIns="0" rtlCol="0" anchor="ctr"/>
          <a:lstStyle/>
          <a:p>
            <a:pPr indent="0" marL="0">
              <a:lnSpc>
                <a:spcPct val="120000"/>
              </a:lnSpc>
              <a:buNone/>
            </a:pPr>
            <a:r>
              <a:rPr lang="en-US" sz="1150" dirty="0">
                <a:solidFill>
                  <a:srgbClr val="C9C4B6"/>
                </a:solidFill>
                <a:latin typeface="Calibri" pitchFamily="34" charset="0"/>
                <a:ea typeface="Calibri" pitchFamily="34" charset="-122"/>
                <a:cs typeface="Calibri" pitchFamily="34" charset="-120"/>
              </a:rPr>
              <a:t>First look and first pick on limited genre drops before anyone else gets in.</a:t>
            </a:r>
            <a:endParaRPr lang="en-US" sz="1150" dirty="0"/>
          </a:p>
        </p:txBody>
      </p:sp>
      <p:sp>
        <p:nvSpPr>
          <p:cNvPr id="12" name="Shape 9"/>
          <p:cNvSpPr/>
          <p:nvPr/>
        </p:nvSpPr>
        <p:spPr>
          <a:xfrm>
            <a:off x="640080" y="5029200"/>
            <a:ext cx="5577840" cy="1234440"/>
          </a:xfrm>
          <a:prstGeom prst="roundRect">
            <a:avLst>
              <a:gd name="adj" fmla="val 5926"/>
            </a:avLst>
          </a:prstGeom>
          <a:solidFill>
            <a:srgbClr val="14161C"/>
          </a:solidFill>
          <a:ln/>
        </p:spPr>
      </p:sp>
      <p:sp>
        <p:nvSpPr>
          <p:cNvPr id="13" name="Text 10"/>
          <p:cNvSpPr/>
          <p:nvPr/>
        </p:nvSpPr>
        <p:spPr>
          <a:xfrm>
            <a:off x="960120" y="5193792"/>
            <a:ext cx="4937760" cy="365760"/>
          </a:xfrm>
          <a:prstGeom prst="rect">
            <a:avLst/>
          </a:prstGeom>
          <a:noFill/>
          <a:ln/>
        </p:spPr>
        <p:txBody>
          <a:bodyPr wrap="square" lIns="0" tIns="0" rIns="0" bIns="0" rtlCol="0" anchor="ctr"/>
          <a:lstStyle/>
          <a:p>
            <a:pPr indent="0" marL="0">
              <a:buNone/>
            </a:pPr>
            <a:r>
              <a:rPr lang="en-US" sz="1500" b="1" dirty="0">
                <a:solidFill>
                  <a:srgbClr val="F3EFE6"/>
                </a:solidFill>
                <a:latin typeface="Cambria" pitchFamily="34" charset="0"/>
                <a:ea typeface="Cambria" pitchFamily="34" charset="-122"/>
                <a:cs typeface="Cambria" pitchFamily="34" charset="-120"/>
              </a:rPr>
              <a:t>A community, not a customer list</a:t>
            </a:r>
            <a:endParaRPr lang="en-US" sz="1500" dirty="0"/>
          </a:p>
        </p:txBody>
      </p:sp>
      <p:sp>
        <p:nvSpPr>
          <p:cNvPr id="14" name="Text 11"/>
          <p:cNvSpPr/>
          <p:nvPr/>
        </p:nvSpPr>
        <p:spPr>
          <a:xfrm>
            <a:off x="960120" y="5577840"/>
            <a:ext cx="4937760" cy="594360"/>
          </a:xfrm>
          <a:prstGeom prst="rect">
            <a:avLst/>
          </a:prstGeom>
          <a:noFill/>
          <a:ln/>
        </p:spPr>
        <p:txBody>
          <a:bodyPr wrap="square" lIns="0" tIns="0" rIns="0" bIns="0" rtlCol="0" anchor="ctr"/>
          <a:lstStyle/>
          <a:p>
            <a:pPr indent="0" marL="0">
              <a:lnSpc>
                <a:spcPct val="120000"/>
              </a:lnSpc>
              <a:buNone/>
            </a:pPr>
            <a:r>
              <a:rPr lang="en-US" sz="1150" dirty="0">
                <a:solidFill>
                  <a:srgbClr val="C9C4B6"/>
                </a:solidFill>
                <a:latin typeface="Calibri" pitchFamily="34" charset="0"/>
                <a:ea typeface="Calibri" pitchFamily="34" charset="-122"/>
                <a:cs typeface="Calibri" pitchFamily="34" charset="-120"/>
              </a:rPr>
              <a:t>Party updates and a real stake in the world she's already living in.</a:t>
            </a:r>
            <a:endParaRPr lang="en-US" sz="1150" dirty="0"/>
          </a:p>
        </p:txBody>
      </p:sp>
      <p:sp>
        <p:nvSpPr>
          <p:cNvPr id="15" name="Shape 12"/>
          <p:cNvSpPr/>
          <p:nvPr/>
        </p:nvSpPr>
        <p:spPr>
          <a:xfrm>
            <a:off x="6492240" y="2103120"/>
            <a:ext cx="5074920" cy="4343400"/>
          </a:xfrm>
          <a:prstGeom prst="roundRect">
            <a:avLst>
              <a:gd name="adj" fmla="val 1684"/>
            </a:avLst>
          </a:prstGeom>
          <a:solidFill>
            <a:srgbClr val="C4419A"/>
          </a:solidFill>
          <a:ln/>
        </p:spPr>
      </p:sp>
      <p:sp>
        <p:nvSpPr>
          <p:cNvPr id="16" name="Text 13"/>
          <p:cNvSpPr/>
          <p:nvPr/>
        </p:nvSpPr>
        <p:spPr>
          <a:xfrm>
            <a:off x="6858000" y="2423160"/>
            <a:ext cx="4343400" cy="320040"/>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WHAT IT NEEDS TO SHIP</a:t>
            </a:r>
            <a:endParaRPr lang="en-US" sz="1100" dirty="0"/>
          </a:p>
        </p:txBody>
      </p:sp>
      <p:sp>
        <p:nvSpPr>
          <p:cNvPr id="17" name="Shape 14"/>
          <p:cNvSpPr/>
          <p:nvPr/>
        </p:nvSpPr>
        <p:spPr>
          <a:xfrm>
            <a:off x="6858000" y="2980944"/>
            <a:ext cx="109728" cy="109728"/>
          </a:xfrm>
          <a:prstGeom prst="ellipse">
            <a:avLst/>
          </a:prstGeom>
          <a:solidFill>
            <a:srgbClr val="FFFFFF"/>
          </a:solidFill>
          <a:ln/>
        </p:spPr>
      </p:sp>
      <p:sp>
        <p:nvSpPr>
          <p:cNvPr id="18" name="Text 15"/>
          <p:cNvSpPr/>
          <p:nvPr/>
        </p:nvSpPr>
        <p:spPr>
          <a:xfrm>
            <a:off x="7114032" y="2926080"/>
            <a:ext cx="406908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Account authentication</a:t>
            </a:r>
            <a:endParaRPr lang="en-US" sz="1300" dirty="0"/>
          </a:p>
        </p:txBody>
      </p:sp>
      <p:sp>
        <p:nvSpPr>
          <p:cNvPr id="19" name="Shape 16"/>
          <p:cNvSpPr/>
          <p:nvPr/>
        </p:nvSpPr>
        <p:spPr>
          <a:xfrm>
            <a:off x="6858000" y="3547872"/>
            <a:ext cx="109728" cy="109728"/>
          </a:xfrm>
          <a:prstGeom prst="ellipse">
            <a:avLst/>
          </a:prstGeom>
          <a:solidFill>
            <a:srgbClr val="FFFFFF"/>
          </a:solidFill>
          <a:ln/>
        </p:spPr>
      </p:sp>
      <p:sp>
        <p:nvSpPr>
          <p:cNvPr id="20" name="Text 17"/>
          <p:cNvSpPr/>
          <p:nvPr/>
        </p:nvSpPr>
        <p:spPr>
          <a:xfrm>
            <a:off x="7114032" y="3493008"/>
            <a:ext cx="406908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Subscription billing, UPI ready</a:t>
            </a:r>
            <a:endParaRPr lang="en-US" sz="1300" dirty="0"/>
          </a:p>
        </p:txBody>
      </p:sp>
      <p:sp>
        <p:nvSpPr>
          <p:cNvPr id="21" name="Shape 18"/>
          <p:cNvSpPr/>
          <p:nvPr/>
        </p:nvSpPr>
        <p:spPr>
          <a:xfrm>
            <a:off x="6858000" y="4114800"/>
            <a:ext cx="109728" cy="109728"/>
          </a:xfrm>
          <a:prstGeom prst="ellipse">
            <a:avLst/>
          </a:prstGeom>
          <a:solidFill>
            <a:srgbClr val="FFFFFF"/>
          </a:solidFill>
          <a:ln/>
        </p:spPr>
      </p:sp>
      <p:sp>
        <p:nvSpPr>
          <p:cNvPr id="22" name="Text 19"/>
          <p:cNvSpPr/>
          <p:nvPr/>
        </p:nvSpPr>
        <p:spPr>
          <a:xfrm>
            <a:off x="7114032" y="4059936"/>
            <a:ext cx="406908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Content gating by tier</a:t>
            </a:r>
            <a:endParaRPr lang="en-US" sz="1300" dirty="0"/>
          </a:p>
        </p:txBody>
      </p:sp>
      <p:sp>
        <p:nvSpPr>
          <p:cNvPr id="23" name="Shape 20"/>
          <p:cNvSpPr/>
          <p:nvPr/>
        </p:nvSpPr>
        <p:spPr>
          <a:xfrm>
            <a:off x="6858000" y="4681728"/>
            <a:ext cx="109728" cy="109728"/>
          </a:xfrm>
          <a:prstGeom prst="ellipse">
            <a:avLst/>
          </a:prstGeom>
          <a:solidFill>
            <a:srgbClr val="FFFFFF"/>
          </a:solidFill>
          <a:ln/>
        </p:spPr>
      </p:sp>
      <p:sp>
        <p:nvSpPr>
          <p:cNvPr id="24" name="Text 21"/>
          <p:cNvSpPr/>
          <p:nvPr/>
        </p:nvSpPr>
        <p:spPr>
          <a:xfrm>
            <a:off x="7114032" y="4626864"/>
            <a:ext cx="406908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member only surface, distinct from the shop</a:t>
            </a:r>
            <a:endParaRPr lang="en-US" sz="1300" dirty="0"/>
          </a:p>
        </p:txBody>
      </p:sp>
      <p:sp>
        <p:nvSpPr>
          <p:cNvPr id="25" name="Text 22"/>
          <p:cNvSpPr/>
          <p:nvPr/>
        </p:nvSpPr>
        <p:spPr>
          <a:xfrm>
            <a:off x="6858000" y="5577840"/>
            <a:ext cx="4343400" cy="685800"/>
          </a:xfrm>
          <a:prstGeom prst="rect">
            <a:avLst/>
          </a:prstGeom>
          <a:noFill/>
          <a:ln/>
        </p:spPr>
        <p:txBody>
          <a:bodyPr wrap="square" lIns="0" tIns="0" rIns="0" bIns="0" rtlCol="0" anchor="ctr"/>
          <a:lstStyle/>
          <a:p>
            <a:pPr indent="0" marL="0">
              <a:lnSpc>
                <a:spcPct val="120000"/>
              </a:lnSpc>
              <a:buNone/>
            </a:pPr>
            <a:r>
              <a:rPr lang="en-US" sz="1050" i="1" dirty="0">
                <a:solidFill>
                  <a:srgbClr val="FFF5E8"/>
                </a:solidFill>
                <a:latin typeface="Calibri" pitchFamily="34" charset="0"/>
                <a:ea typeface="Calibri" pitchFamily="34" charset="-122"/>
                <a:cs typeface="Calibri" pitchFamily="34" charset="-120"/>
              </a:rPr>
              <a:t>Recommended: launch after the shop and map are live. Membership earns its pull once there's a scene worth joining.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0B0C10"/>
                </a:solidFill>
                <a:latin typeface="Cambria" pitchFamily="34" charset="0"/>
                <a:ea typeface="Cambria" pitchFamily="34" charset="-122"/>
                <a:cs typeface="Cambria" pitchFamily="34" charset="-120"/>
              </a:rPr>
              <a:t>Phased Roadmap</a:t>
            </a:r>
            <a:endParaRPr lang="en-US" sz="3200" dirty="0"/>
          </a:p>
        </p:txBody>
      </p:sp>
      <p:sp>
        <p:nvSpPr>
          <p:cNvPr id="3" name="Text 1"/>
          <p:cNvSpPr/>
          <p:nvPr/>
        </p:nvSpPr>
        <p:spPr>
          <a:xfrm>
            <a:off x="640080" y="1143000"/>
            <a:ext cx="10607040" cy="548640"/>
          </a:xfrm>
          <a:prstGeom prst="rect">
            <a:avLst/>
          </a:prstGeom>
          <a:noFill/>
          <a:ln/>
        </p:spPr>
        <p:txBody>
          <a:bodyPr wrap="square" lIns="0" tIns="0" rIns="0" bIns="0" rtlCol="0" anchor="ctr"/>
          <a:lstStyle/>
          <a:p>
            <a:pPr indent="0" marL="0">
              <a:lnSpc>
                <a:spcPct val="120000"/>
              </a:lnSpc>
              <a:buNone/>
            </a:pPr>
            <a:r>
              <a:rPr lang="en-US" sz="1350" dirty="0">
                <a:solidFill>
                  <a:srgbClr val="3A3D46"/>
                </a:solidFill>
                <a:latin typeface="Calibri" pitchFamily="34" charset="0"/>
                <a:ea typeface="Calibri" pitchFamily="34" charset="-122"/>
                <a:cs typeface="Calibri" pitchFamily="34" charset="-120"/>
              </a:rPr>
              <a:t>Building five worlds, a map, and paid membership all at once is how you ship nothing well. We sequence by what proves demand cheapest.</a:t>
            </a:r>
            <a:endParaRPr lang="en-US" sz="1350" dirty="0"/>
          </a:p>
        </p:txBody>
      </p:sp>
      <p:sp>
        <p:nvSpPr>
          <p:cNvPr id="4" name="Shape 2"/>
          <p:cNvSpPr/>
          <p:nvPr/>
        </p:nvSpPr>
        <p:spPr>
          <a:xfrm>
            <a:off x="640080" y="2057400"/>
            <a:ext cx="2522144" cy="4023360"/>
          </a:xfrm>
          <a:prstGeom prst="roundRect">
            <a:avLst>
              <a:gd name="adj" fmla="val 2900"/>
            </a:avLst>
          </a:prstGeom>
          <a:solidFill>
            <a:srgbClr val="FFFFFF"/>
          </a:solidFill>
          <a:ln/>
          <a:effectLst>
            <a:outerShdw sx="100000" sy="100000" kx="0" ky="0" algn="bl" rotWithShape="0" blurRad="101600" dist="38100" dir="5400000">
              <a:srgbClr val="0B0C10">
                <a:alpha val="10000"/>
              </a:srgbClr>
            </a:outerShdw>
          </a:effectLst>
        </p:spPr>
      </p:sp>
      <p:sp>
        <p:nvSpPr>
          <p:cNvPr id="5" name="Shape 3"/>
          <p:cNvSpPr/>
          <p:nvPr/>
        </p:nvSpPr>
        <p:spPr>
          <a:xfrm>
            <a:off x="640080" y="2057400"/>
            <a:ext cx="2522144" cy="502920"/>
          </a:xfrm>
          <a:prstGeom prst="roundRect">
            <a:avLst>
              <a:gd name="adj" fmla="val 14545"/>
            </a:avLst>
          </a:prstGeom>
          <a:solidFill>
            <a:srgbClr val="16A39A"/>
          </a:solidFill>
          <a:ln/>
        </p:spPr>
      </p:sp>
      <p:sp>
        <p:nvSpPr>
          <p:cNvPr id="6" name="Shape 4"/>
          <p:cNvSpPr/>
          <p:nvPr/>
        </p:nvSpPr>
        <p:spPr>
          <a:xfrm>
            <a:off x="640080" y="2331720"/>
            <a:ext cx="2522144" cy="228600"/>
          </a:xfrm>
          <a:prstGeom prst="rect">
            <a:avLst/>
          </a:prstGeom>
          <a:solidFill>
            <a:srgbClr val="16A39A"/>
          </a:solidFill>
          <a:ln/>
        </p:spPr>
      </p:sp>
      <p:sp>
        <p:nvSpPr>
          <p:cNvPr id="7" name="Text 5"/>
          <p:cNvSpPr/>
          <p:nvPr/>
        </p:nvSpPr>
        <p:spPr>
          <a:xfrm>
            <a:off x="868680" y="2057400"/>
            <a:ext cx="2064944" cy="502920"/>
          </a:xfrm>
          <a:prstGeom prst="rect">
            <a:avLst/>
          </a:prstGeom>
          <a:noFill/>
          <a:ln/>
        </p:spPr>
        <p:txBody>
          <a:bodyPr wrap="square" lIns="0" tIns="0" rIns="0" bIns="0" rtlCol="0" anchor="ctr"/>
          <a:lstStyle/>
          <a:p>
            <a:pPr algn="l" indent="0" marL="0">
              <a:buNone/>
            </a:pPr>
            <a:r>
              <a:rPr lang="en-US" sz="1150" b="1" spc="100" kern="0" dirty="0">
                <a:solidFill>
                  <a:srgbClr val="FFFFFF"/>
                </a:solidFill>
                <a:latin typeface="Calibri" pitchFamily="34" charset="0"/>
                <a:ea typeface="Calibri" pitchFamily="34" charset="-122"/>
                <a:cs typeface="Calibri" pitchFamily="34" charset="-120"/>
              </a:rPr>
              <a:t>PHASE 0</a:t>
            </a:r>
            <a:endParaRPr lang="en-US" sz="1150" dirty="0"/>
          </a:p>
        </p:txBody>
      </p:sp>
      <p:sp>
        <p:nvSpPr>
          <p:cNvPr id="8" name="Text 6"/>
          <p:cNvSpPr/>
          <p:nvPr/>
        </p:nvSpPr>
        <p:spPr>
          <a:xfrm>
            <a:off x="868680" y="2743200"/>
            <a:ext cx="2064944" cy="45720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Foundation</a:t>
            </a:r>
            <a:endParaRPr lang="en-US" sz="1800" dirty="0"/>
          </a:p>
        </p:txBody>
      </p:sp>
      <p:sp>
        <p:nvSpPr>
          <p:cNvPr id="9" name="Text 7"/>
          <p:cNvSpPr/>
          <p:nvPr/>
        </p:nvSpPr>
        <p:spPr>
          <a:xfrm>
            <a:off x="868680" y="3291840"/>
            <a:ext cx="2064944" cy="1371600"/>
          </a:xfrm>
          <a:prstGeom prst="rect">
            <a:avLst/>
          </a:prstGeom>
          <a:noFill/>
          <a:ln/>
        </p:spPr>
        <p:txBody>
          <a:bodyPr wrap="square" lIns="0" tIns="0" rIns="0" bIns="0" rtlCol="0" anchor="ctr"/>
          <a:lstStyle/>
          <a:p>
            <a:pPr indent="0" marL="0">
              <a:lnSpc>
                <a:spcPct val="122000"/>
              </a:lnSpc>
              <a:buNone/>
            </a:pPr>
            <a:r>
              <a:rPr lang="en-US" sz="1150" dirty="0">
                <a:solidFill>
                  <a:srgbClr val="3A3D46"/>
                </a:solidFill>
                <a:latin typeface="Calibri" pitchFamily="34" charset="0"/>
                <a:ea typeface="Calibri" pitchFamily="34" charset="-122"/>
                <a:cs typeface="Calibri" pitchFamily="34" charset="-120"/>
              </a:rPr>
              <a:t>Design system from the brand guidelines, the landing page, one genre world built start to finish.</a:t>
            </a:r>
            <a:endParaRPr lang="en-US" sz="1150" dirty="0"/>
          </a:p>
        </p:txBody>
      </p:sp>
      <p:sp>
        <p:nvSpPr>
          <p:cNvPr id="10" name="Text 8"/>
          <p:cNvSpPr/>
          <p:nvPr/>
        </p:nvSpPr>
        <p:spPr>
          <a:xfrm>
            <a:off x="868680" y="5029200"/>
            <a:ext cx="2064944" cy="914400"/>
          </a:xfrm>
          <a:prstGeom prst="rect">
            <a:avLst/>
          </a:prstGeom>
          <a:noFill/>
          <a:ln/>
        </p:spPr>
        <p:txBody>
          <a:bodyPr wrap="square" lIns="0" tIns="0" rIns="0" bIns="0" rtlCol="0" anchor="ctr"/>
          <a:lstStyle/>
          <a:p>
            <a:pPr indent="0" marL="0">
              <a:lnSpc>
                <a:spcPct val="120000"/>
              </a:lnSpc>
              <a:buNone/>
            </a:pPr>
            <a:r>
              <a:rPr lang="en-US" sz="1050" i="1" dirty="0">
                <a:solidFill>
                  <a:srgbClr val="16A39A"/>
                </a:solidFill>
                <a:latin typeface="Calibri" pitchFamily="34" charset="0"/>
                <a:ea typeface="Calibri" pitchFamily="34" charset="-122"/>
                <a:cs typeface="Calibri" pitchFamily="34" charset="-120"/>
              </a:rPr>
              <a:t>Prove the walk into a party feeling before repeating it four more times.</a:t>
            </a:r>
            <a:endParaRPr lang="en-US" sz="1050" dirty="0"/>
          </a:p>
        </p:txBody>
      </p:sp>
      <p:sp>
        <p:nvSpPr>
          <p:cNvPr id="11" name="Shape 9"/>
          <p:cNvSpPr/>
          <p:nvPr/>
        </p:nvSpPr>
        <p:spPr>
          <a:xfrm>
            <a:off x="3436544" y="2057400"/>
            <a:ext cx="2522144" cy="4023360"/>
          </a:xfrm>
          <a:prstGeom prst="roundRect">
            <a:avLst>
              <a:gd name="adj" fmla="val 2900"/>
            </a:avLst>
          </a:prstGeom>
          <a:solidFill>
            <a:srgbClr val="FFFFFF"/>
          </a:solidFill>
          <a:ln/>
          <a:effectLst>
            <a:outerShdw sx="100000" sy="100000" kx="0" ky="0" algn="bl" rotWithShape="0" blurRad="101600" dist="38100" dir="5400000">
              <a:srgbClr val="0B0C10">
                <a:alpha val="10000"/>
              </a:srgbClr>
            </a:outerShdw>
          </a:effectLst>
        </p:spPr>
      </p:sp>
      <p:sp>
        <p:nvSpPr>
          <p:cNvPr id="12" name="Shape 10"/>
          <p:cNvSpPr/>
          <p:nvPr/>
        </p:nvSpPr>
        <p:spPr>
          <a:xfrm>
            <a:off x="3436544" y="2057400"/>
            <a:ext cx="2522144" cy="502920"/>
          </a:xfrm>
          <a:prstGeom prst="roundRect">
            <a:avLst>
              <a:gd name="adj" fmla="val 14545"/>
            </a:avLst>
          </a:prstGeom>
          <a:solidFill>
            <a:srgbClr val="3F7FD6"/>
          </a:solidFill>
          <a:ln/>
        </p:spPr>
      </p:sp>
      <p:sp>
        <p:nvSpPr>
          <p:cNvPr id="13" name="Shape 11"/>
          <p:cNvSpPr/>
          <p:nvPr/>
        </p:nvSpPr>
        <p:spPr>
          <a:xfrm>
            <a:off x="3436544" y="2331720"/>
            <a:ext cx="2522144" cy="228600"/>
          </a:xfrm>
          <a:prstGeom prst="rect">
            <a:avLst/>
          </a:prstGeom>
          <a:solidFill>
            <a:srgbClr val="3F7FD6"/>
          </a:solidFill>
          <a:ln/>
        </p:spPr>
      </p:sp>
      <p:sp>
        <p:nvSpPr>
          <p:cNvPr id="14" name="Text 12"/>
          <p:cNvSpPr/>
          <p:nvPr/>
        </p:nvSpPr>
        <p:spPr>
          <a:xfrm>
            <a:off x="3665144" y="2057400"/>
            <a:ext cx="2064944" cy="502920"/>
          </a:xfrm>
          <a:prstGeom prst="rect">
            <a:avLst/>
          </a:prstGeom>
          <a:noFill/>
          <a:ln/>
        </p:spPr>
        <p:txBody>
          <a:bodyPr wrap="square" lIns="0" tIns="0" rIns="0" bIns="0" rtlCol="0" anchor="ctr"/>
          <a:lstStyle/>
          <a:p>
            <a:pPr algn="l" indent="0" marL="0">
              <a:buNone/>
            </a:pPr>
            <a:r>
              <a:rPr lang="en-US" sz="1150" b="1" spc="100" kern="0" dirty="0">
                <a:solidFill>
                  <a:srgbClr val="FFFFFF"/>
                </a:solidFill>
                <a:latin typeface="Calibri" pitchFamily="34" charset="0"/>
                <a:ea typeface="Calibri" pitchFamily="34" charset="-122"/>
                <a:cs typeface="Calibri" pitchFamily="34" charset="-120"/>
              </a:rPr>
              <a:t>PHASE 1</a:t>
            </a:r>
            <a:endParaRPr lang="en-US" sz="1150" dirty="0"/>
          </a:p>
        </p:txBody>
      </p:sp>
      <p:sp>
        <p:nvSpPr>
          <p:cNvPr id="15" name="Text 13"/>
          <p:cNvSpPr/>
          <p:nvPr/>
        </p:nvSpPr>
        <p:spPr>
          <a:xfrm>
            <a:off x="3665144" y="2743200"/>
            <a:ext cx="2064944" cy="45720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Shop Live</a:t>
            </a:r>
            <a:endParaRPr lang="en-US" sz="1800" dirty="0"/>
          </a:p>
        </p:txBody>
      </p:sp>
      <p:sp>
        <p:nvSpPr>
          <p:cNvPr id="16" name="Text 14"/>
          <p:cNvSpPr/>
          <p:nvPr/>
        </p:nvSpPr>
        <p:spPr>
          <a:xfrm>
            <a:off x="3665144" y="3291840"/>
            <a:ext cx="2064944" cy="1371600"/>
          </a:xfrm>
          <a:prstGeom prst="rect">
            <a:avLst/>
          </a:prstGeom>
          <a:noFill/>
          <a:ln/>
        </p:spPr>
        <p:txBody>
          <a:bodyPr wrap="square" lIns="0" tIns="0" rIns="0" bIns="0" rtlCol="0" anchor="ctr"/>
          <a:lstStyle/>
          <a:p>
            <a:pPr indent="0" marL="0">
              <a:lnSpc>
                <a:spcPct val="122000"/>
              </a:lnSpc>
              <a:buNone/>
            </a:pPr>
            <a:r>
              <a:rPr lang="en-US" sz="1150" dirty="0">
                <a:solidFill>
                  <a:srgbClr val="3A3D46"/>
                </a:solidFill>
                <a:latin typeface="Calibri" pitchFamily="34" charset="0"/>
                <a:ea typeface="Calibri" pitchFamily="34" charset="-122"/>
                <a:cs typeface="Calibri" pitchFamily="34" charset="-120"/>
              </a:rPr>
              <a:t>The remaining four genre worlds, full video product pages, cart and checkout live.</a:t>
            </a:r>
            <a:endParaRPr lang="en-US" sz="1150" dirty="0"/>
          </a:p>
        </p:txBody>
      </p:sp>
      <p:sp>
        <p:nvSpPr>
          <p:cNvPr id="17" name="Text 15"/>
          <p:cNvSpPr/>
          <p:nvPr/>
        </p:nvSpPr>
        <p:spPr>
          <a:xfrm>
            <a:off x="3665144" y="5029200"/>
            <a:ext cx="2064944" cy="914400"/>
          </a:xfrm>
          <a:prstGeom prst="rect">
            <a:avLst/>
          </a:prstGeom>
          <a:noFill/>
          <a:ln/>
        </p:spPr>
        <p:txBody>
          <a:bodyPr wrap="square" lIns="0" tIns="0" rIns="0" bIns="0" rtlCol="0" anchor="ctr"/>
          <a:lstStyle/>
          <a:p>
            <a:pPr indent="0" marL="0">
              <a:lnSpc>
                <a:spcPct val="120000"/>
              </a:lnSpc>
              <a:buNone/>
            </a:pPr>
            <a:r>
              <a:rPr lang="en-US" sz="1050" i="1" dirty="0">
                <a:solidFill>
                  <a:srgbClr val="3F7FD6"/>
                </a:solidFill>
                <a:latin typeface="Calibri" pitchFamily="34" charset="0"/>
                <a:ea typeface="Calibri" pitchFamily="34" charset="-122"/>
                <a:cs typeface="Calibri" pitchFamily="34" charset="-120"/>
              </a:rPr>
              <a:t>Get the commercial engine running and selling.</a:t>
            </a:r>
            <a:endParaRPr lang="en-US" sz="1050" dirty="0"/>
          </a:p>
        </p:txBody>
      </p:sp>
      <p:sp>
        <p:nvSpPr>
          <p:cNvPr id="18" name="Shape 16"/>
          <p:cNvSpPr/>
          <p:nvPr/>
        </p:nvSpPr>
        <p:spPr>
          <a:xfrm>
            <a:off x="6233008" y="2057400"/>
            <a:ext cx="2522144" cy="4023360"/>
          </a:xfrm>
          <a:prstGeom prst="roundRect">
            <a:avLst>
              <a:gd name="adj" fmla="val 2900"/>
            </a:avLst>
          </a:prstGeom>
          <a:solidFill>
            <a:srgbClr val="FFFFFF"/>
          </a:solidFill>
          <a:ln/>
          <a:effectLst>
            <a:outerShdw sx="100000" sy="100000" kx="0" ky="0" algn="bl" rotWithShape="0" blurRad="101600" dist="38100" dir="5400000">
              <a:srgbClr val="0B0C10">
                <a:alpha val="10000"/>
              </a:srgbClr>
            </a:outerShdw>
          </a:effectLst>
        </p:spPr>
      </p:sp>
      <p:sp>
        <p:nvSpPr>
          <p:cNvPr id="19" name="Shape 17"/>
          <p:cNvSpPr/>
          <p:nvPr/>
        </p:nvSpPr>
        <p:spPr>
          <a:xfrm>
            <a:off x="6233008" y="2057400"/>
            <a:ext cx="2522144" cy="502920"/>
          </a:xfrm>
          <a:prstGeom prst="roundRect">
            <a:avLst>
              <a:gd name="adj" fmla="val 14545"/>
            </a:avLst>
          </a:prstGeom>
          <a:solidFill>
            <a:srgbClr val="C4419A"/>
          </a:solidFill>
          <a:ln/>
        </p:spPr>
      </p:sp>
      <p:sp>
        <p:nvSpPr>
          <p:cNvPr id="20" name="Shape 18"/>
          <p:cNvSpPr/>
          <p:nvPr/>
        </p:nvSpPr>
        <p:spPr>
          <a:xfrm>
            <a:off x="6233008" y="2331720"/>
            <a:ext cx="2522144" cy="228600"/>
          </a:xfrm>
          <a:prstGeom prst="rect">
            <a:avLst/>
          </a:prstGeom>
          <a:solidFill>
            <a:srgbClr val="C4419A"/>
          </a:solidFill>
          <a:ln/>
        </p:spPr>
      </p:sp>
      <p:sp>
        <p:nvSpPr>
          <p:cNvPr id="21" name="Text 19"/>
          <p:cNvSpPr/>
          <p:nvPr/>
        </p:nvSpPr>
        <p:spPr>
          <a:xfrm>
            <a:off x="6461608" y="2057400"/>
            <a:ext cx="2064944" cy="502920"/>
          </a:xfrm>
          <a:prstGeom prst="rect">
            <a:avLst/>
          </a:prstGeom>
          <a:noFill/>
          <a:ln/>
        </p:spPr>
        <p:txBody>
          <a:bodyPr wrap="square" lIns="0" tIns="0" rIns="0" bIns="0" rtlCol="0" anchor="ctr"/>
          <a:lstStyle/>
          <a:p>
            <a:pPr algn="l" indent="0" marL="0">
              <a:buNone/>
            </a:pPr>
            <a:r>
              <a:rPr lang="en-US" sz="1150" b="1" spc="100" kern="0" dirty="0">
                <a:solidFill>
                  <a:srgbClr val="FFFFFF"/>
                </a:solidFill>
                <a:latin typeface="Calibri" pitchFamily="34" charset="0"/>
                <a:ea typeface="Calibri" pitchFamily="34" charset="-122"/>
                <a:cs typeface="Calibri" pitchFamily="34" charset="-120"/>
              </a:rPr>
              <a:t>PHASE 2</a:t>
            </a:r>
            <a:endParaRPr lang="en-US" sz="1150" dirty="0"/>
          </a:p>
        </p:txBody>
      </p:sp>
      <p:sp>
        <p:nvSpPr>
          <p:cNvPr id="22" name="Text 20"/>
          <p:cNvSpPr/>
          <p:nvPr/>
        </p:nvSpPr>
        <p:spPr>
          <a:xfrm>
            <a:off x="6461608" y="2743200"/>
            <a:ext cx="2064944" cy="45720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The Map</a:t>
            </a:r>
            <a:endParaRPr lang="en-US" sz="1800" dirty="0"/>
          </a:p>
        </p:txBody>
      </p:sp>
      <p:sp>
        <p:nvSpPr>
          <p:cNvPr id="23" name="Text 21"/>
          <p:cNvSpPr/>
          <p:nvPr/>
        </p:nvSpPr>
        <p:spPr>
          <a:xfrm>
            <a:off x="6461608" y="3291840"/>
            <a:ext cx="2064944" cy="1371600"/>
          </a:xfrm>
          <a:prstGeom prst="rect">
            <a:avLst/>
          </a:prstGeom>
          <a:noFill/>
          <a:ln/>
        </p:spPr>
        <p:txBody>
          <a:bodyPr wrap="square" lIns="0" tIns="0" rIns="0" bIns="0" rtlCol="0" anchor="ctr"/>
          <a:lstStyle/>
          <a:p>
            <a:pPr indent="0" marL="0">
              <a:lnSpc>
                <a:spcPct val="122000"/>
              </a:lnSpc>
              <a:buNone/>
            </a:pPr>
            <a:r>
              <a:rPr lang="en-US" sz="1150" dirty="0">
                <a:solidFill>
                  <a:srgbClr val="3A3D46"/>
                </a:solidFill>
                <a:latin typeface="Calibri" pitchFamily="34" charset="0"/>
                <a:ea typeface="Calibri" pitchFamily="34" charset="-122"/>
                <a:cs typeface="Calibri" pitchFamily="34" charset="-120"/>
              </a:rPr>
              <a:t>The database backed club and event map, with a lightweight admin path.</a:t>
            </a:r>
            <a:endParaRPr lang="en-US" sz="1150" dirty="0"/>
          </a:p>
        </p:txBody>
      </p:sp>
      <p:sp>
        <p:nvSpPr>
          <p:cNvPr id="24" name="Text 22"/>
          <p:cNvSpPr/>
          <p:nvPr/>
        </p:nvSpPr>
        <p:spPr>
          <a:xfrm>
            <a:off x="6461608" y="5029200"/>
            <a:ext cx="2064944" cy="914400"/>
          </a:xfrm>
          <a:prstGeom prst="rect">
            <a:avLst/>
          </a:prstGeom>
          <a:noFill/>
          <a:ln/>
        </p:spPr>
        <p:txBody>
          <a:bodyPr wrap="square" lIns="0" tIns="0" rIns="0" bIns="0" rtlCol="0" anchor="ctr"/>
          <a:lstStyle/>
          <a:p>
            <a:pPr indent="0" marL="0">
              <a:lnSpc>
                <a:spcPct val="120000"/>
              </a:lnSpc>
              <a:buNone/>
            </a:pPr>
            <a:r>
              <a:rPr lang="en-US" sz="1050" i="1" dirty="0">
                <a:solidFill>
                  <a:srgbClr val="C4419A"/>
                </a:solidFill>
                <a:latin typeface="Calibri" pitchFamily="34" charset="0"/>
                <a:ea typeface="Calibri" pitchFamily="34" charset="-122"/>
                <a:cs typeface="Calibri" pitchFamily="34" charset="-120"/>
              </a:rPr>
              <a:t>The nightlife authority hook. Drives repeat traffic between drops.</a:t>
            </a:r>
            <a:endParaRPr lang="en-US" sz="1050" dirty="0"/>
          </a:p>
        </p:txBody>
      </p:sp>
      <p:sp>
        <p:nvSpPr>
          <p:cNvPr id="25" name="Shape 23"/>
          <p:cNvSpPr/>
          <p:nvPr/>
        </p:nvSpPr>
        <p:spPr>
          <a:xfrm>
            <a:off x="9029471" y="2057400"/>
            <a:ext cx="2522144" cy="4023360"/>
          </a:xfrm>
          <a:prstGeom prst="roundRect">
            <a:avLst>
              <a:gd name="adj" fmla="val 2900"/>
            </a:avLst>
          </a:prstGeom>
          <a:solidFill>
            <a:srgbClr val="FFFFFF"/>
          </a:solidFill>
          <a:ln/>
          <a:effectLst>
            <a:outerShdw sx="100000" sy="100000" kx="0" ky="0" algn="bl" rotWithShape="0" blurRad="101600" dist="38100" dir="5400000">
              <a:srgbClr val="0B0C10">
                <a:alpha val="10000"/>
              </a:srgbClr>
            </a:outerShdw>
          </a:effectLst>
        </p:spPr>
      </p:sp>
      <p:sp>
        <p:nvSpPr>
          <p:cNvPr id="26" name="Shape 24"/>
          <p:cNvSpPr/>
          <p:nvPr/>
        </p:nvSpPr>
        <p:spPr>
          <a:xfrm>
            <a:off x="9029471" y="2057400"/>
            <a:ext cx="2522144" cy="502920"/>
          </a:xfrm>
          <a:prstGeom prst="roundRect">
            <a:avLst>
              <a:gd name="adj" fmla="val 14545"/>
            </a:avLst>
          </a:prstGeom>
          <a:solidFill>
            <a:srgbClr val="D9A13C"/>
          </a:solidFill>
          <a:ln/>
        </p:spPr>
      </p:sp>
      <p:sp>
        <p:nvSpPr>
          <p:cNvPr id="27" name="Shape 25"/>
          <p:cNvSpPr/>
          <p:nvPr/>
        </p:nvSpPr>
        <p:spPr>
          <a:xfrm>
            <a:off x="9029471" y="2331720"/>
            <a:ext cx="2522144" cy="228600"/>
          </a:xfrm>
          <a:prstGeom prst="rect">
            <a:avLst/>
          </a:prstGeom>
          <a:solidFill>
            <a:srgbClr val="D9A13C"/>
          </a:solidFill>
          <a:ln/>
        </p:spPr>
      </p:sp>
      <p:sp>
        <p:nvSpPr>
          <p:cNvPr id="28" name="Text 26"/>
          <p:cNvSpPr/>
          <p:nvPr/>
        </p:nvSpPr>
        <p:spPr>
          <a:xfrm>
            <a:off x="9258071" y="2057400"/>
            <a:ext cx="2064944" cy="502920"/>
          </a:xfrm>
          <a:prstGeom prst="rect">
            <a:avLst/>
          </a:prstGeom>
          <a:noFill/>
          <a:ln/>
        </p:spPr>
        <p:txBody>
          <a:bodyPr wrap="square" lIns="0" tIns="0" rIns="0" bIns="0" rtlCol="0" anchor="ctr"/>
          <a:lstStyle/>
          <a:p>
            <a:pPr algn="l" indent="0" marL="0">
              <a:buNone/>
            </a:pPr>
            <a:r>
              <a:rPr lang="en-US" sz="1150" b="1" spc="100" kern="0" dirty="0">
                <a:solidFill>
                  <a:srgbClr val="FFFFFF"/>
                </a:solidFill>
                <a:latin typeface="Calibri" pitchFamily="34" charset="0"/>
                <a:ea typeface="Calibri" pitchFamily="34" charset="-122"/>
                <a:cs typeface="Calibri" pitchFamily="34" charset="-120"/>
              </a:rPr>
              <a:t>PHASE 3</a:t>
            </a:r>
            <a:endParaRPr lang="en-US" sz="1150" dirty="0"/>
          </a:p>
        </p:txBody>
      </p:sp>
      <p:sp>
        <p:nvSpPr>
          <p:cNvPr id="29" name="Text 27"/>
          <p:cNvSpPr/>
          <p:nvPr/>
        </p:nvSpPr>
        <p:spPr>
          <a:xfrm>
            <a:off x="9258071" y="2743200"/>
            <a:ext cx="2064944" cy="457200"/>
          </a:xfrm>
          <a:prstGeom prst="rect">
            <a:avLst/>
          </a:prstGeom>
          <a:noFill/>
          <a:ln/>
        </p:spPr>
        <p:txBody>
          <a:bodyPr wrap="square" lIns="0" tIns="0" rIns="0" bIns="0" rtlCol="0" anchor="ctr"/>
          <a:lstStyle/>
          <a:p>
            <a:pPr indent="0" marL="0">
              <a:buNone/>
            </a:pPr>
            <a:r>
              <a:rPr lang="en-US" sz="1800" b="1" dirty="0">
                <a:solidFill>
                  <a:srgbClr val="0B0C10"/>
                </a:solidFill>
                <a:latin typeface="Cambria" pitchFamily="34" charset="0"/>
                <a:ea typeface="Cambria" pitchFamily="34" charset="-122"/>
                <a:cs typeface="Cambria" pitchFamily="34" charset="-120"/>
              </a:rPr>
              <a:t>omY'S Club</a:t>
            </a:r>
            <a:endParaRPr lang="en-US" sz="1800" dirty="0"/>
          </a:p>
        </p:txBody>
      </p:sp>
      <p:sp>
        <p:nvSpPr>
          <p:cNvPr id="30" name="Text 28"/>
          <p:cNvSpPr/>
          <p:nvPr/>
        </p:nvSpPr>
        <p:spPr>
          <a:xfrm>
            <a:off x="9258071" y="3291840"/>
            <a:ext cx="2064944" cy="1371600"/>
          </a:xfrm>
          <a:prstGeom prst="rect">
            <a:avLst/>
          </a:prstGeom>
          <a:noFill/>
          <a:ln/>
        </p:spPr>
        <p:txBody>
          <a:bodyPr wrap="square" lIns="0" tIns="0" rIns="0" bIns="0" rtlCol="0" anchor="ctr"/>
          <a:lstStyle/>
          <a:p>
            <a:pPr indent="0" marL="0">
              <a:lnSpc>
                <a:spcPct val="122000"/>
              </a:lnSpc>
              <a:buNone/>
            </a:pPr>
            <a:r>
              <a:rPr lang="en-US" sz="1150" dirty="0">
                <a:solidFill>
                  <a:srgbClr val="3A3D46"/>
                </a:solidFill>
                <a:latin typeface="Calibri" pitchFamily="34" charset="0"/>
                <a:ea typeface="Calibri" pitchFamily="34" charset="-122"/>
                <a:cs typeface="Calibri" pitchFamily="34" charset="-120"/>
              </a:rPr>
              <a:t>Membership authentication, billing, and gated content.</a:t>
            </a:r>
            <a:endParaRPr lang="en-US" sz="1150" dirty="0"/>
          </a:p>
        </p:txBody>
      </p:sp>
      <p:sp>
        <p:nvSpPr>
          <p:cNvPr id="31" name="Text 29"/>
          <p:cNvSpPr/>
          <p:nvPr/>
        </p:nvSpPr>
        <p:spPr>
          <a:xfrm>
            <a:off x="9258071" y="5029200"/>
            <a:ext cx="2064944" cy="914400"/>
          </a:xfrm>
          <a:prstGeom prst="rect">
            <a:avLst/>
          </a:prstGeom>
          <a:noFill/>
          <a:ln/>
        </p:spPr>
        <p:txBody>
          <a:bodyPr wrap="square" lIns="0" tIns="0" rIns="0" bIns="0" rtlCol="0" anchor="ctr"/>
          <a:lstStyle/>
          <a:p>
            <a:pPr indent="0" marL="0">
              <a:lnSpc>
                <a:spcPct val="120000"/>
              </a:lnSpc>
              <a:buNone/>
            </a:pPr>
            <a:r>
              <a:rPr lang="en-US" sz="1050" i="1" dirty="0">
                <a:solidFill>
                  <a:srgbClr val="D9A13C"/>
                </a:solidFill>
                <a:latin typeface="Calibri" pitchFamily="34" charset="0"/>
                <a:ea typeface="Calibri" pitchFamily="34" charset="-122"/>
                <a:cs typeface="Calibri" pitchFamily="34" charset="-120"/>
              </a:rPr>
              <a:t>Launch once there's a community worth paying to join.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lIns="0" tIns="0" rIns="0" bIns="0" rtlCol="0" anchor="ctr"/>
          <a:lstStyle/>
          <a:p>
            <a:pPr indent="0" marL="0">
              <a:buNone/>
            </a:pPr>
            <a:r>
              <a:rPr lang="en-US" sz="3000" b="1" dirty="0">
                <a:solidFill>
                  <a:srgbClr val="F3EFE6"/>
                </a:solidFill>
                <a:latin typeface="Cambria" pitchFamily="34" charset="0"/>
                <a:ea typeface="Cambria" pitchFamily="34" charset="-122"/>
                <a:cs typeface="Cambria" pitchFamily="34" charset="-120"/>
              </a:rPr>
              <a:t>Decisions We Need From You</a:t>
            </a:r>
            <a:endParaRPr lang="en-US" sz="3000" dirty="0"/>
          </a:p>
        </p:txBody>
      </p:sp>
      <p:sp>
        <p:nvSpPr>
          <p:cNvPr id="3" name="Text 1"/>
          <p:cNvSpPr/>
          <p:nvPr/>
        </p:nvSpPr>
        <p:spPr>
          <a:xfrm>
            <a:off x="640080" y="1097280"/>
            <a:ext cx="10515600" cy="457200"/>
          </a:xfrm>
          <a:prstGeom prst="rect">
            <a:avLst/>
          </a:prstGeom>
          <a:noFill/>
          <a:ln/>
        </p:spPr>
        <p:txBody>
          <a:bodyPr wrap="square" lIns="0" tIns="0" rIns="0" bIns="0" rtlCol="0" anchor="ctr"/>
          <a:lstStyle/>
          <a:p>
            <a:pPr indent="0" marL="0">
              <a:buNone/>
            </a:pPr>
            <a:r>
              <a:rPr lang="en-US" sz="1400" dirty="0">
                <a:solidFill>
                  <a:srgbClr val="C9C4B6"/>
                </a:solidFill>
                <a:latin typeface="Calibri" pitchFamily="34" charset="0"/>
                <a:ea typeface="Calibri" pitchFamily="34" charset="-122"/>
                <a:cs typeface="Calibri" pitchFamily="34" charset="-120"/>
              </a:rPr>
              <a:t>Five calls that gate the build. The sooner these land, the sooner Phase 0 starts.</a:t>
            </a:r>
            <a:endParaRPr lang="en-US" sz="1400" dirty="0"/>
          </a:p>
        </p:txBody>
      </p:sp>
      <p:sp>
        <p:nvSpPr>
          <p:cNvPr id="4" name="Shape 2"/>
          <p:cNvSpPr/>
          <p:nvPr/>
        </p:nvSpPr>
        <p:spPr>
          <a:xfrm>
            <a:off x="640080" y="1965960"/>
            <a:ext cx="10881360" cy="841248"/>
          </a:xfrm>
          <a:prstGeom prst="roundRect">
            <a:avLst>
              <a:gd name="adj" fmla="val 7609"/>
            </a:avLst>
          </a:prstGeom>
          <a:solidFill>
            <a:srgbClr val="14161C"/>
          </a:solidFill>
          <a:ln/>
        </p:spPr>
      </p:sp>
      <p:sp>
        <p:nvSpPr>
          <p:cNvPr id="5" name="Shape 3"/>
          <p:cNvSpPr/>
          <p:nvPr/>
        </p:nvSpPr>
        <p:spPr>
          <a:xfrm>
            <a:off x="914400" y="2203704"/>
            <a:ext cx="365760" cy="365760"/>
          </a:xfrm>
          <a:prstGeom prst="ellipse">
            <a:avLst/>
          </a:prstGeom>
          <a:solidFill>
            <a:srgbClr val="16A39A"/>
          </a:solidFill>
          <a:ln/>
        </p:spPr>
      </p:sp>
      <p:sp>
        <p:nvSpPr>
          <p:cNvPr id="6" name="Text 4"/>
          <p:cNvSpPr/>
          <p:nvPr/>
        </p:nvSpPr>
        <p:spPr>
          <a:xfrm>
            <a:off x="914400" y="2203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08760" y="2075688"/>
            <a:ext cx="3017520" cy="621792"/>
          </a:xfrm>
          <a:prstGeom prst="rect">
            <a:avLst/>
          </a:prstGeom>
          <a:noFill/>
          <a:ln/>
        </p:spPr>
        <p:txBody>
          <a:bodyPr wrap="square" lIns="0" tIns="0" rIns="0" bIns="0" rtlCol="0" anchor="ctr"/>
          <a:lstStyle/>
          <a:p>
            <a:pPr indent="0" marL="0">
              <a:buNone/>
            </a:pPr>
            <a:r>
              <a:rPr lang="en-US" sz="1350" b="1" dirty="0">
                <a:solidFill>
                  <a:srgbClr val="F3EFE6"/>
                </a:solidFill>
                <a:latin typeface="Cambria" pitchFamily="34" charset="0"/>
                <a:ea typeface="Cambria" pitchFamily="34" charset="-122"/>
                <a:cs typeface="Cambria" pitchFamily="34" charset="-120"/>
              </a:rPr>
              <a:t>Photoshoot timeline</a:t>
            </a:r>
            <a:endParaRPr lang="en-US" sz="1350" dirty="0"/>
          </a:p>
        </p:txBody>
      </p:sp>
      <p:sp>
        <p:nvSpPr>
          <p:cNvPr id="8" name="Text 6"/>
          <p:cNvSpPr/>
          <p:nvPr/>
        </p:nvSpPr>
        <p:spPr>
          <a:xfrm>
            <a:off x="4663440" y="2075688"/>
            <a:ext cx="6675120" cy="621792"/>
          </a:xfrm>
          <a:prstGeom prst="rect">
            <a:avLst/>
          </a:prstGeom>
          <a:noFill/>
          <a:ln/>
        </p:spPr>
        <p:txBody>
          <a:bodyPr wrap="square" lIns="0" tIns="0" rIns="0" bIns="0" rtlCol="0" anchor="ctr"/>
          <a:lstStyle/>
          <a:p>
            <a:pPr indent="0" marL="0">
              <a:lnSpc>
                <a:spcPct val="115000"/>
              </a:lnSpc>
              <a:buNone/>
            </a:pPr>
            <a:r>
              <a:rPr lang="en-US" sz="1150" dirty="0">
                <a:solidFill>
                  <a:srgbClr val="C9C4B6"/>
                </a:solidFill>
                <a:latin typeface="Calibri" pitchFamily="34" charset="0"/>
                <a:ea typeface="Calibri" pitchFamily="34" charset="-122"/>
                <a:cs typeface="Calibri" pitchFamily="34" charset="-120"/>
              </a:rPr>
              <a:t>When does supplied and stock imagery get replaced by the real video led shoot? This gates how long placeholder media stays live.</a:t>
            </a:r>
            <a:endParaRPr lang="en-US" sz="1150" dirty="0"/>
          </a:p>
        </p:txBody>
      </p:sp>
      <p:sp>
        <p:nvSpPr>
          <p:cNvPr id="9" name="Shape 7"/>
          <p:cNvSpPr/>
          <p:nvPr/>
        </p:nvSpPr>
        <p:spPr>
          <a:xfrm>
            <a:off x="640080" y="2916936"/>
            <a:ext cx="10881360" cy="841248"/>
          </a:xfrm>
          <a:prstGeom prst="roundRect">
            <a:avLst>
              <a:gd name="adj" fmla="val 7609"/>
            </a:avLst>
          </a:prstGeom>
          <a:solidFill>
            <a:srgbClr val="14161C"/>
          </a:solidFill>
          <a:ln/>
        </p:spPr>
      </p:sp>
      <p:sp>
        <p:nvSpPr>
          <p:cNvPr id="10" name="Shape 8"/>
          <p:cNvSpPr/>
          <p:nvPr/>
        </p:nvSpPr>
        <p:spPr>
          <a:xfrm>
            <a:off x="914400" y="3154680"/>
            <a:ext cx="365760" cy="365760"/>
          </a:xfrm>
          <a:prstGeom prst="ellipse">
            <a:avLst/>
          </a:prstGeom>
          <a:solidFill>
            <a:srgbClr val="3F7FD6"/>
          </a:solidFill>
          <a:ln/>
        </p:spPr>
      </p:sp>
      <p:sp>
        <p:nvSpPr>
          <p:cNvPr id="11" name="Text 9"/>
          <p:cNvSpPr/>
          <p:nvPr/>
        </p:nvSpPr>
        <p:spPr>
          <a:xfrm>
            <a:off x="914400" y="3154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08760" y="3026664"/>
            <a:ext cx="3017520" cy="621792"/>
          </a:xfrm>
          <a:prstGeom prst="rect">
            <a:avLst/>
          </a:prstGeom>
          <a:noFill/>
          <a:ln/>
        </p:spPr>
        <p:txBody>
          <a:bodyPr wrap="square" lIns="0" tIns="0" rIns="0" bIns="0" rtlCol="0" anchor="ctr"/>
          <a:lstStyle/>
          <a:p>
            <a:pPr indent="0" marL="0">
              <a:buNone/>
            </a:pPr>
            <a:r>
              <a:rPr lang="en-US" sz="1350" b="1" dirty="0">
                <a:solidFill>
                  <a:srgbClr val="F3EFE6"/>
                </a:solidFill>
                <a:latin typeface="Cambria" pitchFamily="34" charset="0"/>
                <a:ea typeface="Cambria" pitchFamily="34" charset="-122"/>
                <a:cs typeface="Cambria" pitchFamily="34" charset="-120"/>
              </a:rPr>
              <a:t>Music licensing</a:t>
            </a:r>
            <a:endParaRPr lang="en-US" sz="1350" dirty="0"/>
          </a:p>
        </p:txBody>
      </p:sp>
      <p:sp>
        <p:nvSpPr>
          <p:cNvPr id="13" name="Text 11"/>
          <p:cNvSpPr/>
          <p:nvPr/>
        </p:nvSpPr>
        <p:spPr>
          <a:xfrm>
            <a:off x="4663440" y="3026664"/>
            <a:ext cx="6675120" cy="621792"/>
          </a:xfrm>
          <a:prstGeom prst="rect">
            <a:avLst/>
          </a:prstGeom>
          <a:noFill/>
          <a:ln/>
        </p:spPr>
        <p:txBody>
          <a:bodyPr wrap="square" lIns="0" tIns="0" rIns="0" bIns="0" rtlCol="0" anchor="ctr"/>
          <a:lstStyle/>
          <a:p>
            <a:pPr indent="0" marL="0">
              <a:lnSpc>
                <a:spcPct val="115000"/>
              </a:lnSpc>
              <a:buNone/>
            </a:pPr>
            <a:r>
              <a:rPr lang="en-US" sz="1150" dirty="0">
                <a:solidFill>
                  <a:srgbClr val="C9C4B6"/>
                </a:solidFill>
                <a:latin typeface="Calibri" pitchFamily="34" charset="0"/>
                <a:ea typeface="Calibri" pitchFamily="34" charset="-122"/>
                <a:cs typeface="Calibri" pitchFamily="34" charset="-120"/>
              </a:rPr>
              <a:t>Per genre track sourcing and rights, ideally through the DJ and artist relationships already on the roadmap.</a:t>
            </a:r>
            <a:endParaRPr lang="en-US" sz="1150" dirty="0"/>
          </a:p>
        </p:txBody>
      </p:sp>
      <p:sp>
        <p:nvSpPr>
          <p:cNvPr id="14" name="Shape 12"/>
          <p:cNvSpPr/>
          <p:nvPr/>
        </p:nvSpPr>
        <p:spPr>
          <a:xfrm>
            <a:off x="640080" y="3867912"/>
            <a:ext cx="10881360" cy="841248"/>
          </a:xfrm>
          <a:prstGeom prst="roundRect">
            <a:avLst>
              <a:gd name="adj" fmla="val 7609"/>
            </a:avLst>
          </a:prstGeom>
          <a:solidFill>
            <a:srgbClr val="14161C"/>
          </a:solidFill>
          <a:ln/>
        </p:spPr>
      </p:sp>
      <p:sp>
        <p:nvSpPr>
          <p:cNvPr id="15" name="Shape 13"/>
          <p:cNvSpPr/>
          <p:nvPr/>
        </p:nvSpPr>
        <p:spPr>
          <a:xfrm>
            <a:off x="914400" y="4105656"/>
            <a:ext cx="365760" cy="365760"/>
          </a:xfrm>
          <a:prstGeom prst="ellipse">
            <a:avLst/>
          </a:prstGeom>
          <a:solidFill>
            <a:srgbClr val="C4419A"/>
          </a:solidFill>
          <a:ln/>
        </p:spPr>
      </p:sp>
      <p:sp>
        <p:nvSpPr>
          <p:cNvPr id="16" name="Text 14"/>
          <p:cNvSpPr/>
          <p:nvPr/>
        </p:nvSpPr>
        <p:spPr>
          <a:xfrm>
            <a:off x="914400" y="4105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08760" y="3977640"/>
            <a:ext cx="3017520" cy="621792"/>
          </a:xfrm>
          <a:prstGeom prst="rect">
            <a:avLst/>
          </a:prstGeom>
          <a:noFill/>
          <a:ln/>
        </p:spPr>
        <p:txBody>
          <a:bodyPr wrap="square" lIns="0" tIns="0" rIns="0" bIns="0" rtlCol="0" anchor="ctr"/>
          <a:lstStyle/>
          <a:p>
            <a:pPr indent="0" marL="0">
              <a:buNone/>
            </a:pPr>
            <a:r>
              <a:rPr lang="en-US" sz="1350" b="1" dirty="0">
                <a:solidFill>
                  <a:srgbClr val="F3EFE6"/>
                </a:solidFill>
                <a:latin typeface="Cambria" pitchFamily="34" charset="0"/>
                <a:ea typeface="Cambria" pitchFamily="34" charset="-122"/>
                <a:cs typeface="Cambria" pitchFamily="34" charset="-120"/>
              </a:rPr>
              <a:t>Map data ownership</a:t>
            </a:r>
            <a:endParaRPr lang="en-US" sz="1350" dirty="0"/>
          </a:p>
        </p:txBody>
      </p:sp>
      <p:sp>
        <p:nvSpPr>
          <p:cNvPr id="18" name="Text 16"/>
          <p:cNvSpPr/>
          <p:nvPr/>
        </p:nvSpPr>
        <p:spPr>
          <a:xfrm>
            <a:off x="4663440" y="3977640"/>
            <a:ext cx="6675120" cy="621792"/>
          </a:xfrm>
          <a:prstGeom prst="rect">
            <a:avLst/>
          </a:prstGeom>
          <a:noFill/>
          <a:ln/>
        </p:spPr>
        <p:txBody>
          <a:bodyPr wrap="square" lIns="0" tIns="0" rIns="0" bIns="0" rtlCol="0" anchor="ctr"/>
          <a:lstStyle/>
          <a:p>
            <a:pPr indent="0" marL="0">
              <a:lnSpc>
                <a:spcPct val="115000"/>
              </a:lnSpc>
              <a:buNone/>
            </a:pPr>
            <a:r>
              <a:rPr lang="en-US" sz="1150" dirty="0">
                <a:solidFill>
                  <a:srgbClr val="C9C4B6"/>
                </a:solidFill>
                <a:latin typeface="Calibri" pitchFamily="34" charset="0"/>
                <a:ea typeface="Calibri" pitchFamily="34" charset="-122"/>
                <a:cs typeface="Calibri" pitchFamily="34" charset="-120"/>
              </a:rPr>
              <a:t>Who keeps the Bangalore club and event database current after launch: us, venues self serve, or a curated feed?</a:t>
            </a:r>
            <a:endParaRPr lang="en-US" sz="1150" dirty="0"/>
          </a:p>
        </p:txBody>
      </p:sp>
      <p:sp>
        <p:nvSpPr>
          <p:cNvPr id="19" name="Shape 17"/>
          <p:cNvSpPr/>
          <p:nvPr/>
        </p:nvSpPr>
        <p:spPr>
          <a:xfrm>
            <a:off x="640080" y="4818888"/>
            <a:ext cx="10881360" cy="841248"/>
          </a:xfrm>
          <a:prstGeom prst="roundRect">
            <a:avLst>
              <a:gd name="adj" fmla="val 7609"/>
            </a:avLst>
          </a:prstGeom>
          <a:solidFill>
            <a:srgbClr val="14161C"/>
          </a:solidFill>
          <a:ln/>
        </p:spPr>
      </p:sp>
      <p:sp>
        <p:nvSpPr>
          <p:cNvPr id="20" name="Shape 18"/>
          <p:cNvSpPr/>
          <p:nvPr/>
        </p:nvSpPr>
        <p:spPr>
          <a:xfrm>
            <a:off x="914400" y="5056632"/>
            <a:ext cx="365760" cy="365760"/>
          </a:xfrm>
          <a:prstGeom prst="ellipse">
            <a:avLst/>
          </a:prstGeom>
          <a:solidFill>
            <a:srgbClr val="D9A13C"/>
          </a:solidFill>
          <a:ln/>
        </p:spPr>
      </p:sp>
      <p:sp>
        <p:nvSpPr>
          <p:cNvPr id="21" name="Text 19"/>
          <p:cNvSpPr/>
          <p:nvPr/>
        </p:nvSpPr>
        <p:spPr>
          <a:xfrm>
            <a:off x="914400" y="5056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508760" y="4928616"/>
            <a:ext cx="3017520" cy="621792"/>
          </a:xfrm>
          <a:prstGeom prst="rect">
            <a:avLst/>
          </a:prstGeom>
          <a:noFill/>
          <a:ln/>
        </p:spPr>
        <p:txBody>
          <a:bodyPr wrap="square" lIns="0" tIns="0" rIns="0" bIns="0" rtlCol="0" anchor="ctr"/>
          <a:lstStyle/>
          <a:p>
            <a:pPr indent="0" marL="0">
              <a:buNone/>
            </a:pPr>
            <a:r>
              <a:rPr lang="en-US" sz="1350" b="1" dirty="0">
                <a:solidFill>
                  <a:srgbClr val="F3EFE6"/>
                </a:solidFill>
                <a:latin typeface="Cambria" pitchFamily="34" charset="0"/>
                <a:ea typeface="Cambria" pitchFamily="34" charset="-122"/>
                <a:cs typeface="Cambria" pitchFamily="34" charset="-120"/>
              </a:rPr>
              <a:t>Payments platform</a:t>
            </a:r>
            <a:endParaRPr lang="en-US" sz="1350" dirty="0"/>
          </a:p>
        </p:txBody>
      </p:sp>
      <p:sp>
        <p:nvSpPr>
          <p:cNvPr id="23" name="Text 21"/>
          <p:cNvSpPr/>
          <p:nvPr/>
        </p:nvSpPr>
        <p:spPr>
          <a:xfrm>
            <a:off x="4663440" y="4928616"/>
            <a:ext cx="6675120" cy="621792"/>
          </a:xfrm>
          <a:prstGeom prst="rect">
            <a:avLst/>
          </a:prstGeom>
          <a:noFill/>
          <a:ln/>
        </p:spPr>
        <p:txBody>
          <a:bodyPr wrap="square" lIns="0" tIns="0" rIns="0" bIns="0" rtlCol="0" anchor="ctr"/>
          <a:lstStyle/>
          <a:p>
            <a:pPr indent="0" marL="0">
              <a:lnSpc>
                <a:spcPct val="115000"/>
              </a:lnSpc>
              <a:buNone/>
            </a:pPr>
            <a:r>
              <a:rPr lang="en-US" sz="1150" dirty="0">
                <a:solidFill>
                  <a:srgbClr val="C9C4B6"/>
                </a:solidFill>
                <a:latin typeface="Calibri" pitchFamily="34" charset="0"/>
                <a:ea typeface="Calibri" pitchFamily="34" charset="-122"/>
                <a:cs typeface="Calibri" pitchFamily="34" charset="-120"/>
              </a:rPr>
              <a:t>Provider for checkout and omY'S Club recurring billing. UPI support is non negotiable for India.</a:t>
            </a:r>
            <a:endParaRPr lang="en-US" sz="1150" dirty="0"/>
          </a:p>
        </p:txBody>
      </p:sp>
      <p:sp>
        <p:nvSpPr>
          <p:cNvPr id="24" name="Shape 22"/>
          <p:cNvSpPr/>
          <p:nvPr/>
        </p:nvSpPr>
        <p:spPr>
          <a:xfrm>
            <a:off x="640080" y="5769864"/>
            <a:ext cx="10881360" cy="841248"/>
          </a:xfrm>
          <a:prstGeom prst="roundRect">
            <a:avLst>
              <a:gd name="adj" fmla="val 7609"/>
            </a:avLst>
          </a:prstGeom>
          <a:solidFill>
            <a:srgbClr val="14161C"/>
          </a:solidFill>
          <a:ln/>
        </p:spPr>
      </p:sp>
      <p:sp>
        <p:nvSpPr>
          <p:cNvPr id="25" name="Shape 23"/>
          <p:cNvSpPr/>
          <p:nvPr/>
        </p:nvSpPr>
        <p:spPr>
          <a:xfrm>
            <a:off x="914400" y="6007608"/>
            <a:ext cx="365760" cy="365760"/>
          </a:xfrm>
          <a:prstGeom prst="ellipse">
            <a:avLst/>
          </a:prstGeom>
          <a:solidFill>
            <a:srgbClr val="16A39A"/>
          </a:solidFill>
          <a:ln/>
        </p:spPr>
      </p:sp>
      <p:sp>
        <p:nvSpPr>
          <p:cNvPr id="26" name="Text 24"/>
          <p:cNvSpPr/>
          <p:nvPr/>
        </p:nvSpPr>
        <p:spPr>
          <a:xfrm>
            <a:off x="914400" y="6007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508760" y="5879592"/>
            <a:ext cx="3017520" cy="621792"/>
          </a:xfrm>
          <a:prstGeom prst="rect">
            <a:avLst/>
          </a:prstGeom>
          <a:noFill/>
          <a:ln/>
        </p:spPr>
        <p:txBody>
          <a:bodyPr wrap="square" lIns="0" tIns="0" rIns="0" bIns="0" rtlCol="0" anchor="ctr"/>
          <a:lstStyle/>
          <a:p>
            <a:pPr indent="0" marL="0">
              <a:buNone/>
            </a:pPr>
            <a:r>
              <a:rPr lang="en-US" sz="1350" b="1" dirty="0">
                <a:solidFill>
                  <a:srgbClr val="F3EFE6"/>
                </a:solidFill>
                <a:latin typeface="Cambria" pitchFamily="34" charset="0"/>
                <a:ea typeface="Cambria" pitchFamily="34" charset="-122"/>
                <a:cs typeface="Cambria" pitchFamily="34" charset="-120"/>
              </a:rPr>
              <a:t>Build platform</a:t>
            </a:r>
            <a:endParaRPr lang="en-US" sz="1350" dirty="0"/>
          </a:p>
        </p:txBody>
      </p:sp>
      <p:sp>
        <p:nvSpPr>
          <p:cNvPr id="28" name="Text 26"/>
          <p:cNvSpPr/>
          <p:nvPr/>
        </p:nvSpPr>
        <p:spPr>
          <a:xfrm>
            <a:off x="4663440" y="5879592"/>
            <a:ext cx="6675120" cy="621792"/>
          </a:xfrm>
          <a:prstGeom prst="rect">
            <a:avLst/>
          </a:prstGeom>
          <a:noFill/>
          <a:ln/>
        </p:spPr>
        <p:txBody>
          <a:bodyPr wrap="square" lIns="0" tIns="0" rIns="0" bIns="0" rtlCol="0" anchor="ctr"/>
          <a:lstStyle/>
          <a:p>
            <a:pPr indent="0" marL="0">
              <a:lnSpc>
                <a:spcPct val="115000"/>
              </a:lnSpc>
              <a:buNone/>
            </a:pPr>
            <a:r>
              <a:rPr lang="en-US" sz="1150" dirty="0">
                <a:solidFill>
                  <a:srgbClr val="C9C4B6"/>
                </a:solidFill>
                <a:latin typeface="Calibri" pitchFamily="34" charset="0"/>
                <a:ea typeface="Calibri" pitchFamily="34" charset="-122"/>
                <a:cs typeface="Calibri" pitchFamily="34" charset="-120"/>
              </a:rPr>
              <a:t>Custom stack or headless commerce with a custom front end. The video heavy, multi world site argues against an off the shelf theme either way.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C1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D9A13C">
              <a:alpha val="10000"/>
            </a:srgbClr>
          </a:solidFill>
          <a:ln/>
        </p:spPr>
      </p:sp>
      <p:sp>
        <p:nvSpPr>
          <p:cNvPr id="3" name="Shape 1"/>
          <p:cNvSpPr/>
          <p:nvPr/>
        </p:nvSpPr>
        <p:spPr>
          <a:xfrm>
            <a:off x="-2011680" y="4572000"/>
            <a:ext cx="5029200" cy="5029200"/>
          </a:xfrm>
          <a:prstGeom prst="ellipse">
            <a:avLst/>
          </a:prstGeom>
          <a:solidFill>
            <a:srgbClr val="16A39A">
              <a:alpha val="10000"/>
            </a:srgbClr>
          </a:solidFill>
          <a:ln/>
        </p:spPr>
      </p:sp>
      <p:sp>
        <p:nvSpPr>
          <p:cNvPr id="4" name="Text 2"/>
          <p:cNvSpPr/>
          <p:nvPr/>
        </p:nvSpPr>
        <p:spPr>
          <a:xfrm>
            <a:off x="822960" y="2286000"/>
            <a:ext cx="10515600" cy="68580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Build the place women go</a:t>
            </a:r>
            <a:endParaRPr lang="en-US" sz="3400" dirty="0"/>
          </a:p>
        </p:txBody>
      </p:sp>
      <p:sp>
        <p:nvSpPr>
          <p:cNvPr id="5" name="Text 3"/>
          <p:cNvSpPr/>
          <p:nvPr/>
        </p:nvSpPr>
        <p:spPr>
          <a:xfrm>
            <a:off x="822960" y="2926080"/>
            <a:ext cx="10515600" cy="685800"/>
          </a:xfrm>
          <a:prstGeom prst="rect">
            <a:avLst/>
          </a:prstGeom>
          <a:noFill/>
          <a:ln/>
        </p:spPr>
        <p:txBody>
          <a:bodyPr wrap="square" lIns="0" tIns="0" rIns="0" bIns="0" rtlCol="0" anchor="ctr"/>
          <a:lstStyle/>
          <a:p>
            <a:pPr indent="0" marL="0">
              <a:buNone/>
            </a:pPr>
            <a:r>
              <a:rPr lang="en-US" sz="3400" b="1" dirty="0">
                <a:solidFill>
                  <a:srgbClr val="D9A13C"/>
                </a:solidFill>
                <a:latin typeface="Cambria" pitchFamily="34" charset="0"/>
                <a:ea typeface="Cambria" pitchFamily="34" charset="-122"/>
                <a:cs typeface="Cambria" pitchFamily="34" charset="-120"/>
              </a:rPr>
              <a:t>when they need to dress for the night.</a:t>
            </a:r>
            <a:endParaRPr lang="en-US" sz="3400" dirty="0"/>
          </a:p>
        </p:txBody>
      </p:sp>
      <p:sp>
        <p:nvSpPr>
          <p:cNvPr id="6" name="Text 4"/>
          <p:cNvSpPr/>
          <p:nvPr/>
        </p:nvSpPr>
        <p:spPr>
          <a:xfrm>
            <a:off x="822960" y="3840480"/>
            <a:ext cx="8229600" cy="731520"/>
          </a:xfrm>
          <a:prstGeom prst="rect">
            <a:avLst/>
          </a:prstGeom>
          <a:noFill/>
          <a:ln/>
        </p:spPr>
        <p:txBody>
          <a:bodyPr wrap="square" lIns="0" tIns="0" rIns="0" bIns="0" rtlCol="0" anchor="ctr"/>
          <a:lstStyle/>
          <a:p>
            <a:pPr indent="0" marL="0">
              <a:lnSpc>
                <a:spcPct val="130000"/>
              </a:lnSpc>
              <a:buNone/>
            </a:pPr>
            <a:r>
              <a:rPr lang="en-US" sz="1400" dirty="0">
                <a:solidFill>
                  <a:srgbClr val="C9C4B6"/>
                </a:solidFill>
                <a:latin typeface="Calibri" pitchFamily="34" charset="0"/>
                <a:ea typeface="Calibri" pitchFamily="34" charset="-122"/>
                <a:cs typeface="Calibri" pitchFamily="34" charset="-120"/>
              </a:rPr>
              <a:t>Not just another clothing brand. Not just another marketplace. A party fashion universe built on music, culture, identity and community.</a:t>
            </a:r>
            <a:endParaRPr lang="en-US" sz="1400" dirty="0"/>
          </a:p>
        </p:txBody>
      </p:sp>
      <p:sp>
        <p:nvSpPr>
          <p:cNvPr id="7" name="Text 5"/>
          <p:cNvSpPr/>
          <p:nvPr/>
        </p:nvSpPr>
        <p:spPr>
          <a:xfrm>
            <a:off x="822960" y="5943600"/>
            <a:ext cx="8229600" cy="457200"/>
          </a:xfrm>
          <a:prstGeom prst="rect">
            <a:avLst/>
          </a:prstGeom>
          <a:noFill/>
          <a:ln/>
        </p:spPr>
        <p:txBody>
          <a:bodyPr wrap="square" lIns="0" tIns="0" rIns="0" bIns="0" rtlCol="0" anchor="ctr"/>
          <a:lstStyle/>
          <a:p>
            <a:pPr indent="0" marL="0">
              <a:buNone/>
            </a:pPr>
            <a:r>
              <a:rPr lang="en-US" sz="1200" spc="200" kern="0" dirty="0">
                <a:solidFill>
                  <a:srgbClr val="C9C4B6"/>
                </a:solidFill>
                <a:latin typeface="Calibri" pitchFamily="34" charset="0"/>
                <a:ea typeface="Calibri" pitchFamily="34" charset="-122"/>
                <a:cs typeface="Calibri" pitchFamily="34" charset="-120"/>
              </a:rPr>
              <a:t>YASS &amp; SASS  ·  Welcome to omY'S Club</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Oval 1"/>
          <p:cNvSpPr/>
          <p:nvPr/>
        </p:nvSpPr>
        <p:spPr>
          <a:xfrm>
            <a:off x="-1400000" y="-1400000"/>
            <a:ext cx="3400000" cy="3400000"/>
          </a:xfrm>
          <a:prstGeom prst="ellipse">
            <a:avLst/>
          </a:prstGeom>
          <a:solidFill>
            <a:srgbClr val="D9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0" cy="365760"/>
          </a:xfrm>
          <a:prstGeom prst="rect">
            <a:avLst/>
          </a:prstGeom>
          <a:noFill/>
        </p:spPr>
        <p:txBody>
          <a:bodyPr wrap="square">
            <a:spAutoFit/>
          </a:bodyPr>
          <a:lstStyle/>
          <a:p>
            <a:r>
              <a:rPr sz="1200" b="1">
                <a:solidFill>
                  <a:srgbClr val="16A39A"/>
                </a:solidFill>
                <a:latin typeface="Calibri"/>
              </a:rPr>
              <a:t>THE BRAND · COLOR, DISCO CUT</a:t>
            </a:r>
          </a:p>
        </p:txBody>
      </p:sp>
      <p:sp>
        <p:nvSpPr>
          <p:cNvPr id="4" name="TextBox 3"/>
          <p:cNvSpPr txBox="1"/>
          <p:nvPr/>
        </p:nvSpPr>
        <p:spPr>
          <a:xfrm>
            <a:off x="822960" y="822960"/>
            <a:ext cx="10424160" cy="822960"/>
          </a:xfrm>
          <a:prstGeom prst="rect">
            <a:avLst/>
          </a:prstGeom>
          <a:noFill/>
        </p:spPr>
        <p:txBody>
          <a:bodyPr wrap="square">
            <a:spAutoFit/>
          </a:bodyPr>
          <a:lstStyle/>
          <a:p>
            <a:r>
              <a:rPr sz="3400" b="1">
                <a:solidFill>
                  <a:srgbClr val="F3EFE6"/>
                </a:solidFill>
                <a:latin typeface="Cambria"/>
              </a:rPr>
              <a:t>Every hue, mirrored.</a:t>
            </a:r>
          </a:p>
        </p:txBody>
      </p:sp>
      <p:sp>
        <p:nvSpPr>
          <p:cNvPr id="5" name="TextBox 4"/>
          <p:cNvSpPr txBox="1"/>
          <p:nvPr/>
        </p:nvSpPr>
        <p:spPr>
          <a:xfrm>
            <a:off x="822960" y="1481328"/>
            <a:ext cx="9692640" cy="548640"/>
          </a:xfrm>
          <a:prstGeom prst="rect">
            <a:avLst/>
          </a:prstGeom>
          <a:noFill/>
        </p:spPr>
        <p:txBody>
          <a:bodyPr wrap="square">
            <a:spAutoFit/>
          </a:bodyPr>
          <a:lstStyle/>
          <a:p>
            <a:r>
              <a:rPr sz="1400">
                <a:solidFill>
                  <a:srgbClr val="C9C4B6"/>
                </a:solidFill>
                <a:latin typeface="Calibri"/>
              </a:rPr>
              <a:t>Ink, Bone, Chrome, and the four Peacock shimmers — the same palette from the brand guidelines, recast as spinning mirror balls instead of flat chips.</a:t>
            </a:r>
          </a:p>
        </p:txBody>
      </p:sp>
      <p:pic>
        <p:nvPicPr>
          <p:cNvPr id="6" name="Picture 5" descr="yns_disco_swatches.gif"/>
          <p:cNvPicPr>
            <a:picLocks noChangeAspect="1"/>
          </p:cNvPicPr>
          <p:nvPr/>
        </p:nvPicPr>
        <p:blipFill>
          <a:blip r:embed="rId2"/>
          <a:stretch>
            <a:fillRect/>
          </a:stretch>
        </p:blipFill>
        <p:spPr>
          <a:xfrm>
            <a:off x="883767" y="3320362"/>
            <a:ext cx="10424160" cy="1726034"/>
          </a:xfrm>
          <a:prstGeom prst="rect">
            <a:avLst/>
          </a:prstGeom>
        </p:spPr>
      </p:pic>
      <p:sp>
        <p:nvSpPr>
          <p:cNvPr id="7" name="TextBox 6"/>
          <p:cNvSpPr txBox="1"/>
          <p:nvPr/>
        </p:nvSpPr>
        <p:spPr>
          <a:xfrm>
            <a:off x="822960" y="6355080"/>
            <a:ext cx="9144000" cy="365760"/>
          </a:xfrm>
          <a:prstGeom prst="rect">
            <a:avLst/>
          </a:prstGeom>
          <a:noFill/>
        </p:spPr>
        <p:txBody>
          <a:bodyPr wrap="none">
            <a:spAutoFit/>
          </a:bodyPr>
          <a:lstStyle/>
          <a:p>
            <a:r>
              <a:rPr sz="1200">
                <a:solidFill>
                  <a:srgbClr val="C9C4B6"/>
                </a:solidFill>
                <a:latin typeface="Calibri"/>
              </a:rPr>
              <a:t>YASS &amp; SASS  ·  Brand Guidelines, Disco 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Yass and Sass, Website Project Brief</dc:title>
  <dc:subject>PptxGenJS Presentation</dc:subject>
  <dc:creator>Yass &amp; Sass</dc:creator>
  <cp:lastModifiedBy>Yass &amp; Sass</cp:lastModifiedBy>
  <cp:revision>1</cp:revision>
  <dcterms:created xsi:type="dcterms:W3CDTF">2026-08-21T18:12:37Z</dcterms:created>
  <dcterms:modified xsi:type="dcterms:W3CDTF">2026-08-21T18:12:37Z</dcterms:modified>
</cp:coreProperties>
</file>